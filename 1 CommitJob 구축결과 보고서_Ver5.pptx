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70" r:id="rId9"/>
    <p:sldId id="271" r:id="rId10"/>
  </p:sldIdLst>
  <p:sldSz cx="9906000" cy="6858000" type="A4"/>
  <p:notesSz cx="8229600" cy="14630400"/>
  <p:embeddedFontLst>
    <p:embeddedFont>
      <p:font typeface="한컴 고딕" panose="02000500000000000000" pitchFamily="2" charset="-127"/>
      <p:regular r:id="rId12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2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04" autoAdjust="0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08" y="27"/>
      </p:cViewPr>
      <p:guideLst>
        <p:guide orient="horz" pos="2160"/>
        <p:guide pos="3120"/>
        <p:guide pos="2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3" d="100"/>
          <a:sy n="53" d="100"/>
        </p:scale>
        <p:origin x="353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39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1pPr>
    <a:lvl2pPr marL="399136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2pPr>
    <a:lvl3pPr marL="798271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3pPr>
    <a:lvl4pPr marL="1197407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4pPr>
    <a:lvl5pPr marL="1596542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5pPr>
    <a:lvl6pPr marL="1995678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6pPr>
    <a:lvl7pPr marL="2394814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7pPr>
    <a:lvl8pPr marL="2793949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8pPr>
    <a:lvl9pPr marL="3193085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7D79A-AF64-8C3E-04D1-6F6D907D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5BF45-26E1-8F67-8E2E-D1423482D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2F811-A086-3549-1DCA-BC238AB99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940CA-419F-08FB-04DB-A5D432F50C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67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A08E0-C800-BB19-1116-2D66F956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FAE68-3AA1-48C0-E6DA-60D322D85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98C4C-4740-F0B4-5DAF-A2F09D8C9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30AD0-75FA-FF2F-92B9-A45348CE3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92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2471-7814-CFAE-5514-519842396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C9827-CAC2-5EC0-372D-3C3C52693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67D40-61FB-2EB7-C3E8-54231E8C4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AFB08-C4EC-864E-501D-F77103A97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61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8C8F-F5E3-D958-41D9-9C576140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F8D89-FC91-E4E0-EEBF-F9937488D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1B41F-B53C-47FF-7AB3-F4DE5B0B0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07F16-8B55-F34F-F4A9-BCC037BFA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34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5C9A-2F2C-171F-099C-65BA66D31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D37F3-1DD1-793D-69EF-DD291A488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4FE60-34B2-4C56-DB76-5A180EB0F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092B7-A33C-E0BE-2F69-ACB53DBCA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63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431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5414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223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4999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8007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9989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9303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1098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6047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6072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8807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828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C2BD19C-ED61-0B49-BA99-47F392C8E13E}"/>
              </a:ext>
            </a:extLst>
          </p:cNvPr>
          <p:cNvCxnSpPr>
            <a:cxnSpLocks/>
          </p:cNvCxnSpPr>
          <p:nvPr userDrawn="1"/>
        </p:nvCxnSpPr>
        <p:spPr>
          <a:xfrm>
            <a:off x="197672" y="486578"/>
            <a:ext cx="951065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06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7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5725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06119" y="2438475"/>
            <a:ext cx="4722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69"/>
              </a:lnSpc>
            </a:pPr>
            <a:r>
              <a:rPr lang="en-US" sz="556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CommitJob</a:t>
            </a:r>
            <a:endParaRPr lang="en-US" sz="556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06120" y="3537124"/>
            <a:ext cx="39504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기반 맞춤형 취업 플랫폼</a:t>
            </a:r>
            <a:endParaRPr lang="en-US" sz="278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4306119" y="4192712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GPT-5-mini를 활용한 채용공고 추천 및 면접 준비 지원 서비스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72408E7-59FA-0DC7-1355-D93456BCDA38}"/>
              </a:ext>
            </a:extLst>
          </p:cNvPr>
          <p:cNvSpPr/>
          <p:nvPr/>
        </p:nvSpPr>
        <p:spPr>
          <a:xfrm>
            <a:off x="7898405" y="5414042"/>
            <a:ext cx="171566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작성자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차민희</a:t>
            </a:r>
            <a:endParaRPr lang="en-US" altLang="ko-KR" sz="1094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작성일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2025.10.08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1000" y="728291"/>
            <a:ext cx="2981028" cy="37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7"/>
              </a:lnSpc>
            </a:pPr>
            <a:r>
              <a:rPr lang="en-US" sz="1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</a:t>
            </a:r>
            <a:r>
              <a:rPr lang="en-US" sz="1907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프로젝트</a:t>
            </a:r>
            <a:r>
              <a:rPr lang="en-US" sz="1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핵심 가치</a:t>
            </a:r>
            <a:endParaRPr lang="en-US" sz="1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93515" y="1425453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12727" y="1544665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02" y="1622874"/>
            <a:ext cx="160958" cy="201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727" y="2021585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GPT-5-mini AI 추천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612727" y="2279356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기반 맞춤형 채용공고 자동 매칭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308700" y="1425453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427912" y="1544665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287" y="1622874"/>
            <a:ext cx="160958" cy="201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27911" y="2021585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면접 준비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427911" y="2279356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리뷰 20건 </a:t>
            </a:r>
            <a:r>
              <a:rPr lang="ko-KR" alt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endParaRPr lang="en-US" sz="16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DB </a:t>
            </a:r>
            <a:r>
              <a:rPr lang="ko-KR" alt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</a:t>
            </a: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활용한 맞춤형 질문 생성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93515" y="3770947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12727" y="3890159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02" y="3968369"/>
            <a:ext cx="160958" cy="2012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2727" y="4367079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간편 로그인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12727" y="4624849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소셜 로그인으로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빠른</a:t>
            </a: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시작</a:t>
            </a:r>
            <a:endParaRPr lang="en-US" sz="16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5308700" y="3770947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5427912" y="3890159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6287" y="3968369"/>
            <a:ext cx="160958" cy="20121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27911" y="4367079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최적화된 성능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5427911" y="4624849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sessionStorage 캐싱으로 빠른 응답 속도 제공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747442-9186-FA17-8DF2-1CE541ADE690}"/>
              </a:ext>
            </a:extLst>
          </p:cNvPr>
          <p:cNvSpPr txBox="1"/>
          <p:nvPr/>
        </p:nvSpPr>
        <p:spPr>
          <a:xfrm>
            <a:off x="277698" y="95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0024" y="671378"/>
            <a:ext cx="3473425" cy="43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7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</a:t>
            </a:r>
            <a:r>
              <a:rPr 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기술</a:t>
            </a: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스택 아키텍처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518879" y="1280489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프론트엔드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518879" y="1679944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프레임워크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React 19.2.0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라우팅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React Router DOM 7.9.3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빌드 도구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Vite 7.1.9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HTTP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클라이언트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Axios 1.12.2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스타일링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CSS3 </a:t>
            </a:r>
          </a:p>
          <a:p>
            <a:pPr>
              <a:lnSpc>
                <a:spcPts val="1750"/>
              </a:lnSpc>
              <a:buSzPct val="100000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(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인라인 스타일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+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글래스모피즘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디자인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배포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Vercel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40589" y="1280489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백엔드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40589" y="1658776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런타임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Node.js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프레임워크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Express 5.1.0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데이터베이스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MySQL 2 (AWS RDS)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인증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JWT (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jose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6.1.0)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Kakao OAuth 2.0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연동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OpenAI API 6.2.0 (GPT-5-mini)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웹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Cheerio 1.1.2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파일 업로드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Multer 2.0.2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문서화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Swagger </a:t>
            </a:r>
          </a:p>
          <a:p>
            <a:pPr>
              <a:lnSpc>
                <a:spcPts val="1750"/>
              </a:lnSpc>
              <a:buSzPct val="100000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(swagger-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jsdoc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swagger-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ui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-express)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배포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Railway</a:t>
            </a:r>
          </a:p>
        </p:txBody>
      </p:sp>
      <p:sp>
        <p:nvSpPr>
          <p:cNvPr id="16" name="Text 13"/>
          <p:cNvSpPr/>
          <p:nvPr/>
        </p:nvSpPr>
        <p:spPr>
          <a:xfrm>
            <a:off x="518879" y="4042470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외부 서비스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18879" y="4441925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Python Flask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채용공고 수집 서비스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OpenAI GPT-5-mini: AI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추천 및 면접 질문 생성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OAuth: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 인증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BCB0BB-F90B-6866-3F50-EDA94B9D1298}"/>
              </a:ext>
            </a:extLst>
          </p:cNvPr>
          <p:cNvSpPr txBox="1"/>
          <p:nvPr/>
        </p:nvSpPr>
        <p:spPr>
          <a:xfrm>
            <a:off x="277698" y="95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527" y="60731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3. </a:t>
            </a:r>
            <a:r>
              <a:rPr 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주요</a:t>
            </a: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기능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1580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51580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351580" y="155389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카카오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소셜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로그인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및 사용자 관리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51580" y="186040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 2.0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세션 관리</a:t>
            </a:r>
          </a:p>
          <a:p>
            <a:pPr marL="178587" indent="-178587">
              <a:lnSpc>
                <a:spcPts val="1782"/>
              </a:lnSpc>
              <a:buFontTx/>
              <a:buChar char="-"/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관리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선호 지역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회원 탈퇴 기능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71643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71643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98020" y="471041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이력서 관리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98020" y="501692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 업로드 및 저장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사용자별 스킬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선호 직무 관리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프로필 정보 업데이트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71259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03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71259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71644" y="155389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맞춤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채용정보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추천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71644" y="1860407"/>
            <a:ext cx="3185716" cy="127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추천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OpenAI GPT-5-mini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모델을 활용한 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 알고리즘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 점수 및 추천 이유 제공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세션 기반 추천 결과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캐싱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0921" y="4365432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04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0921" y="4587334"/>
            <a:ext cx="4004965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71258" y="1551699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면접 준비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89884" y="1810771"/>
            <a:ext cx="33637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회사 및 포지션 기반 맞춤형 면접 질문 생성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Catch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10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건의 회사 리뷰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및 활용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DB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데이터 통합 활용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질문 난이도 및 카테고리 분류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GPT-5-mini fallback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로직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장애 대응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조건 이력 저장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98020" y="4365432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05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198020" y="4587334"/>
            <a:ext cx="4004965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0921" y="4741520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채용공고 검색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0921" y="5048032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BIGDATA/AI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분야 채용공고 제공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Catch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플랫폼 기반 채용공고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카테고리별 채용공고 조회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(IT, BIGDATA_AI)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상세 정보 제공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7441A6-E750-BE5C-1BD7-E2DEB8919FB4}"/>
              </a:ext>
            </a:extLst>
          </p:cNvPr>
          <p:cNvSpPr txBox="1"/>
          <p:nvPr/>
        </p:nvSpPr>
        <p:spPr>
          <a:xfrm>
            <a:off x="225447" y="95341"/>
            <a:ext cx="7723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AE21-F273-2A60-923B-E1B073B6A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4E772B-D07D-DEDD-39A8-BB10D8569E77}"/>
              </a:ext>
            </a:extLst>
          </p:cNvPr>
          <p:cNvSpPr/>
          <p:nvPr/>
        </p:nvSpPr>
        <p:spPr>
          <a:xfrm>
            <a:off x="328638" y="54007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</a:t>
            </a:r>
            <a:r>
              <a:rPr lang="ko-KR" alt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프런트엔드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구조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F2DACC-3A56-0A82-65EB-EC7B8A8F9760}"/>
              </a:ext>
            </a:extLst>
          </p:cNvPr>
          <p:cNvSpPr/>
          <p:nvPr/>
        </p:nvSpPr>
        <p:spPr>
          <a:xfrm>
            <a:off x="386400" y="1051311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디렉토리 구조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9769535-0A30-3AB3-D485-BE36B216A1EE}"/>
              </a:ext>
            </a:extLst>
          </p:cNvPr>
          <p:cNvSpPr/>
          <p:nvPr/>
        </p:nvSpPr>
        <p:spPr>
          <a:xfrm>
            <a:off x="386400" y="127321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C5EF13-9316-E910-1370-36E144B3A358}"/>
              </a:ext>
            </a:extLst>
          </p:cNvPr>
          <p:cNvSpPr/>
          <p:nvPr/>
        </p:nvSpPr>
        <p:spPr>
          <a:xfrm>
            <a:off x="386399" y="1385704"/>
            <a:ext cx="49296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kakao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-login-app/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src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pages/  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페이지 컴포넌트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MainPage.jsx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메인 홈 페이지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미리보기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CallbackPage.jsx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콜백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AIRecommendationPage.jsx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# 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맞춤 추천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AIInterviewPage.jsx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# 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면접 질문 생성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목록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# BIGDATA/AI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ITJobsPage.jsx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# IT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JobDetailPage.jsx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상세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ResumePage.jsx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 관리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MenuPage.jsx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전체 메뉴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components/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재사용 컴포넌트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Header.jsx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상단 헤더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Navigation.jsx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하단 네비게이션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config.js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 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(API URL, Kakao Key)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App.jsx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라우팅 설정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main.jsx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앱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진입점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package.json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└── vite.config.js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D2BD373-B80F-2F84-9B9B-0D92F578341B}"/>
              </a:ext>
            </a:extLst>
          </p:cNvPr>
          <p:cNvSpPr/>
          <p:nvPr/>
        </p:nvSpPr>
        <p:spPr>
          <a:xfrm>
            <a:off x="5633056" y="1051311"/>
            <a:ext cx="173929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주요 특징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70FF7B1-084F-EAC3-1F47-7A3186DD110E}"/>
              </a:ext>
            </a:extLst>
          </p:cNvPr>
          <p:cNvSpPr/>
          <p:nvPr/>
        </p:nvSpPr>
        <p:spPr>
          <a:xfrm>
            <a:off x="5633056" y="127321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9E10D14-F4F6-393A-1133-E73BF18C867A}"/>
              </a:ext>
            </a:extLst>
          </p:cNvPr>
          <p:cNvSpPr/>
          <p:nvPr/>
        </p:nvSpPr>
        <p:spPr>
          <a:xfrm>
            <a:off x="5591250" y="1398037"/>
            <a:ext cx="3023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React Router DOM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SPA 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(Single Page Application)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환경별 자동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URL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(localhost/production)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localStorage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토큰 관리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sessionStorage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통한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호출 최적화 및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캐싱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반응형 디자인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모바일 우선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글래스모피즘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디자인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(backdrop-filter,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그라데이션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E2FBC9-A81D-FD2C-FD2F-C3C5AFBFE21A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177670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8148C-49BE-9920-3499-E64334BC2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51011D-4D08-04C3-6C0B-6E5873426C7B}"/>
              </a:ext>
            </a:extLst>
          </p:cNvPr>
          <p:cNvSpPr/>
          <p:nvPr/>
        </p:nvSpPr>
        <p:spPr>
          <a:xfrm>
            <a:off x="467989" y="70254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</a:t>
            </a:r>
            <a:r>
              <a:rPr lang="ko-KR" alt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백엔드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구조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61582C-26FD-683B-DB03-18C215A41564}"/>
              </a:ext>
            </a:extLst>
          </p:cNvPr>
          <p:cNvSpPr/>
          <p:nvPr/>
        </p:nvSpPr>
        <p:spPr>
          <a:xfrm>
            <a:off x="482208" y="1582538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디렉토리 구조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DAB20DE-2B99-8461-581F-67DDF2E9579C}"/>
              </a:ext>
            </a:extLst>
          </p:cNvPr>
          <p:cNvSpPr/>
          <p:nvPr/>
        </p:nvSpPr>
        <p:spPr>
          <a:xfrm>
            <a:off x="482208" y="1804440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5830D9-914B-09E1-D2AB-B8EF4B84C4E7}"/>
              </a:ext>
            </a:extLst>
          </p:cNvPr>
          <p:cNvSpPr/>
          <p:nvPr/>
        </p:nvSpPr>
        <p:spPr>
          <a:xfrm>
            <a:off x="482207" y="1916931"/>
            <a:ext cx="49296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backend/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server.js                        # Express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서버 메인 파일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(5000+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줄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database-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setup.sql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# MySQL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데이터베이스 스키마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routes/                           # API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라우트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모듈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catch-scraper-service/ # Python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└──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catch_scraper.py   # Flask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웹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uploads/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업로드 파일 저장소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package.json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└── .env     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 변수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98CE708-F19D-E585-88FB-564AFFB28051}"/>
              </a:ext>
            </a:extLst>
          </p:cNvPr>
          <p:cNvSpPr/>
          <p:nvPr/>
        </p:nvSpPr>
        <p:spPr>
          <a:xfrm>
            <a:off x="6547471" y="1582538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주요 특징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EB029CB-D1EB-5700-E16F-E2B97A04F1B0}"/>
              </a:ext>
            </a:extLst>
          </p:cNvPr>
          <p:cNvSpPr/>
          <p:nvPr/>
        </p:nvSpPr>
        <p:spPr>
          <a:xfrm>
            <a:off x="6547471" y="1804440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6E81C74-E73C-4036-C1B6-7EEA774477BC}"/>
              </a:ext>
            </a:extLst>
          </p:cNvPr>
          <p:cNvSpPr/>
          <p:nvPr/>
        </p:nvSpPr>
        <p:spPr>
          <a:xfrm>
            <a:off x="6505665" y="1929264"/>
            <a:ext cx="3023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Express 5.1.0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RESTful API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MySQL2 Connection Pool 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최대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인증 미들웨어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CORS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다중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origin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지원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Swagger 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문서화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(/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-docs)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파일 업로드 처리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(Multer)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OpenAI 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통합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C9D87-9135-4F7C-8FE4-554D4E15AFB0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721956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873F-50E7-D054-281A-D5EE87A72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66485A-E941-1D27-A8EC-5EA4B6309DB8}"/>
              </a:ext>
            </a:extLst>
          </p:cNvPr>
          <p:cNvSpPr/>
          <p:nvPr/>
        </p:nvSpPr>
        <p:spPr>
          <a:xfrm>
            <a:off x="397504" y="62952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3.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데이터베이스 스키마</a:t>
            </a: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(MySQL)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A4506C-60E7-A959-F734-14890A036CD4}"/>
              </a:ext>
            </a:extLst>
          </p:cNvPr>
          <p:cNvSpPr/>
          <p:nvPr/>
        </p:nvSpPr>
        <p:spPr>
          <a:xfrm>
            <a:off x="453085" y="1166975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Users(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사용자 정보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70095B-456C-E413-B986-CECB56158A58}"/>
              </a:ext>
            </a:extLst>
          </p:cNvPr>
          <p:cNvSpPr/>
          <p:nvPr/>
        </p:nvSpPr>
        <p:spPr>
          <a:xfrm>
            <a:off x="453085" y="1388878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5469C0-3FC0-9B0E-F10D-A91A54B51282}"/>
              </a:ext>
            </a:extLst>
          </p:cNvPr>
          <p:cNvSpPr/>
          <p:nvPr/>
        </p:nvSpPr>
        <p:spPr>
          <a:xfrm>
            <a:off x="462609" y="1501369"/>
            <a:ext cx="550956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(PK, AUTO_INCREMENT)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provider_key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UNIQUE (ex: 'kakao:12345')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email: VARCHAR(255)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name: VARCHAR(100)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picture: VARCHAR(500)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provider: ENUM('google', '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kakao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')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434CF97B-00A9-C78F-4A56-E933BDE5726C}"/>
              </a:ext>
            </a:extLst>
          </p:cNvPr>
          <p:cNvSpPr/>
          <p:nvPr/>
        </p:nvSpPr>
        <p:spPr>
          <a:xfrm>
            <a:off x="453084" y="3623089"/>
            <a:ext cx="201136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User_Profiles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사용자 프로파일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628D0F65-55BE-C2CA-2D9B-CBAA8A88AA75}"/>
              </a:ext>
            </a:extLst>
          </p:cNvPr>
          <p:cNvSpPr/>
          <p:nvPr/>
        </p:nvSpPr>
        <p:spPr>
          <a:xfrm>
            <a:off x="453085" y="384499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6D359FA-1AED-1E79-E434-111543D76CD2}"/>
              </a:ext>
            </a:extLst>
          </p:cNvPr>
          <p:cNvSpPr/>
          <p:nvPr/>
        </p:nvSpPr>
        <p:spPr>
          <a:xfrm>
            <a:off x="453084" y="3957483"/>
            <a:ext cx="343552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INT (FK → users.id)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skills: JSON (ex: ["JavaScript", "React"])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experience: VARCHAR(50) (ex: "3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년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", 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신입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preferred_regions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JSON (ex: ["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서울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", 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"])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preferred_jobs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VARCHAR(200)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expected_salary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DECIMAL(10,2)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resume_path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VARCHAR(500)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CDEC4DA4-4226-BAEB-7A60-AEB64CFA3EC4}"/>
              </a:ext>
            </a:extLst>
          </p:cNvPr>
          <p:cNvSpPr/>
          <p:nvPr/>
        </p:nvSpPr>
        <p:spPr>
          <a:xfrm>
            <a:off x="5316456" y="1089439"/>
            <a:ext cx="260892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03    Jobs 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채용 공고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50FA45F3-2F18-D5CB-3DAA-1C1F108B3E52}"/>
              </a:ext>
            </a:extLst>
          </p:cNvPr>
          <p:cNvSpPr/>
          <p:nvPr/>
        </p:nvSpPr>
        <p:spPr>
          <a:xfrm>
            <a:off x="5316457" y="1311343"/>
            <a:ext cx="340191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AC484B6-918B-7E4A-D42C-326E042B7385}"/>
              </a:ext>
            </a:extLst>
          </p:cNvPr>
          <p:cNvSpPr/>
          <p:nvPr/>
        </p:nvSpPr>
        <p:spPr>
          <a:xfrm>
            <a:off x="5316456" y="1423833"/>
            <a:ext cx="445619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UNIQUE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company_id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(FK → companies)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title: VARCHAR(300)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description, requirements: TEXT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skills: JSON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experience_level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VARCHAR(50)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employment_type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location, salary: VARCHAR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source,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source_url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VARCHAR/TEXT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posted_date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deadline_date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DATE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is_active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BOOLEAN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CF9B0-8218-9E72-DCD3-CBBDA59C020D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200358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9360-6F7D-1C9C-A6D4-0B23F54E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1B06FB-E689-8DC6-8ED4-16FC4B3CF6A0}"/>
              </a:ext>
            </a:extLst>
          </p:cNvPr>
          <p:cNvSpPr/>
          <p:nvPr/>
        </p:nvSpPr>
        <p:spPr>
          <a:xfrm>
            <a:off x="344488" y="59048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AI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맞춤 채용공고 추천</a:t>
            </a:r>
          </a:p>
          <a:p>
            <a:pPr>
              <a:lnSpc>
                <a:spcPts val="3469"/>
              </a:lnSpc>
            </a:pP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945FDC-7DBE-B390-6640-2EA19734C912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III. </a:t>
            </a:r>
            <a:r>
              <a:rPr lang="ko-KR" altLang="en-US" dirty="0"/>
              <a:t>주요 기능별 구현내용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695C1EC-9CBC-531C-FFD4-89C9E24AE06B}"/>
              </a:ext>
            </a:extLst>
          </p:cNvPr>
          <p:cNvSpPr/>
          <p:nvPr/>
        </p:nvSpPr>
        <p:spPr>
          <a:xfrm>
            <a:off x="378951" y="1065900"/>
            <a:ext cx="9098424" cy="276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맞춤 채용공고 추천기능은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이력서와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(DB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기반</a:t>
            </a:r>
            <a:r>
              <a:rPr lang="ko-KR" altLang="en-US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으로 </a:t>
            </a:r>
            <a:r>
              <a:rPr lang="en-US" altLang="ko-KR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</a:t>
            </a:r>
            <a:r>
              <a:rPr lang="ko-KR" altLang="en-US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가 </a:t>
            </a:r>
            <a:r>
              <a:rPr lang="ko-KR" altLang="en-US" sz="125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매칭점수가</a:t>
            </a:r>
            <a:r>
              <a:rPr lang="ko-KR" altLang="en-US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높은 채용공고 </a:t>
            </a:r>
            <a:r>
              <a:rPr lang="en-US" altLang="ko-KR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6</a:t>
            </a:r>
            <a:r>
              <a:rPr lang="ko-KR" altLang="en-US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추천해줍니다</a:t>
            </a:r>
            <a:r>
              <a:rPr lang="en-US" altLang="ko-KR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실시간 채용정보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100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 </a:t>
            </a:r>
            <a:r>
              <a:rPr lang="ko-KR" altLang="en-US" sz="1250" b="1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시 시간 지연되기에 대신에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DB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 기반으로 채용공고 추천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!!)</a:t>
            </a: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1. MySQL DB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에서 로그인한 사용자 이력서와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 테이블의 데이터를 조회 </a:t>
            </a:r>
            <a:endParaRPr lang="en-US" altLang="ko-KR" sz="125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- jobs(</a:t>
            </a:r>
            <a:r>
              <a:rPr lang="ko-KR" altLang="en-US" sz="125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스크래핑한</a:t>
            </a:r>
            <a:r>
              <a:rPr lang="ko-KR" altLang="en-US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</a:t>
            </a:r>
            <a:r>
              <a:rPr lang="en-US" altLang="ko-KR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</a:t>
            </a:r>
            <a:r>
              <a:rPr lang="ko-KR" altLang="en-US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테이블에서 채용공고 조회</a:t>
            </a:r>
            <a:endParaRPr lang="en-US" altLang="ko-KR" sz="125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- </a:t>
            </a:r>
            <a:r>
              <a:rPr lang="en-US" altLang="ko-KR" sz="125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User_profiles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프로필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테이블에서 사용자 이력서 조회</a:t>
            </a:r>
            <a:endParaRPr lang="en-US" altLang="ko-KR" sz="12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   * 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프로필 </a:t>
            </a:r>
            <a:r>
              <a:rPr lang="ko-KR" altLang="en-US" sz="125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미입력시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사전 정의된 기본 프로필로 조회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(skill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</a:t>
            </a:r>
            <a:r>
              <a:rPr lang="en-US" altLang="ko-KR" sz="125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javascript,python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희망지역은 서울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경기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직무는 개발자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~)</a:t>
            </a: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2.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질문하기 위한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Prompt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생성합니다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(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요청내용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이력서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채용공고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100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건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응답형식 등 정의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당신은 채용 추천 전문가입니다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다음 사용자 프로필과 채용공고 목록을 분석하여 가장 적합한 채용공고를 추천해주세요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프로필은 스킬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희망직무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희망지역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희망연봉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</a:t>
            </a:r>
          </a:p>
          <a:p>
            <a:pPr>
              <a:lnSpc>
                <a:spcPct val="150000"/>
              </a:lnSpc>
            </a:pP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목록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(100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: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직무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지역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연봉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~~</a:t>
            </a:r>
          </a:p>
          <a:p>
            <a:pPr>
              <a:lnSpc>
                <a:spcPct val="150000"/>
              </a:lnSpc>
            </a:pP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위 사용자에게 가장 적합한 채용공고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6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추천하고 각 공고별로 </a:t>
            </a:r>
            <a:r>
              <a:rPr lang="ko-KR" altLang="en-US" sz="125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매칭점수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추천이유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 </a:t>
            </a:r>
            <a:r>
              <a:rPr lang="ko-KR" altLang="en-US" sz="125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매칭도를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JSON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형식으로 해주세요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~~~</a:t>
            </a: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3. GPT-5-mini API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호출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(prompt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25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response_format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전달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4.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GPT API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장애 시 사전 정의한 기본 매칭 알고리즘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으로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 채용공고를 제공하여 서비스 중단 없이 사용자에게 항상 결과 제공</a:t>
            </a:r>
            <a:endParaRPr lang="en-US" altLang="ko-KR" sz="125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1)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기본점수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50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매칭되는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skill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개수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X 5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최대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20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3)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매칭되는 지역 개수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X 5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최대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20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4)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경력 매칭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신입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X 10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  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5)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합산점수는 최대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95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    </a:t>
            </a:r>
            <a:endParaRPr lang="en-US" altLang="ko-KR" sz="1250" b="1" dirty="0">
              <a:solidFill>
                <a:srgbClr val="FF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5.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전달받은 사용자 이력서와 채용공고를 매칭하여 매칭 점수 계산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추천이유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순위를 매김</a:t>
            </a:r>
            <a:endParaRPr lang="en-US" altLang="ko-KR" sz="125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6. GPT-5-mini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순위가 높은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채용정보를 반환해줌</a:t>
            </a:r>
            <a:endParaRPr lang="en-US" altLang="ko-KR" sz="125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7. </a:t>
            </a:r>
            <a:r>
              <a:rPr lang="ko-KR" altLang="en-US" sz="1250" b="1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프런트엔드가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추천해준 채용공고를 화면에 보여줌 </a:t>
            </a:r>
            <a:endParaRPr lang="en-US" sz="125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9953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AF675-8A63-7F02-E3F5-C4F9779D3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30DF9F-CC1A-69EF-E14C-FF65884F7A33}"/>
              </a:ext>
            </a:extLst>
          </p:cNvPr>
          <p:cNvSpPr/>
          <p:nvPr/>
        </p:nvSpPr>
        <p:spPr>
          <a:xfrm>
            <a:off x="464179" y="62594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AI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면접 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21899950-4674-107B-565A-E71264B4C085}"/>
              </a:ext>
            </a:extLst>
          </p:cNvPr>
          <p:cNvSpPr/>
          <p:nvPr/>
        </p:nvSpPr>
        <p:spPr>
          <a:xfrm>
            <a:off x="498642" y="1066816"/>
            <a:ext cx="8696082" cy="5448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면접 기능은 사용자가 입력한 회사명과 포지션을 기반으로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가 맞춤형 면접 질문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생성해줍니다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사용자가 회사명과 지원 포지션을 입력하면 면접질문 조건을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user_interview_conditions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 저장합니다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-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 저장 목적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사용자의 면접 준비 이력 추적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향후 데이터 분석 및 개선에 활용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3)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사용자가 자주 검색하는 회사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/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포지션 파악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2. 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</a:t>
            </a: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기출질문 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10</a:t>
            </a: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건을 실시간 </a:t>
            </a:r>
            <a:r>
              <a:rPr lang="ko-KR" altLang="en-US" sz="1300" b="1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3. MySQL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로그인한 사용자의 이력서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user_profiles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조회합니다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4.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질문하기 위한 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Prompt</a:t>
            </a: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를 생성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합니다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당신은 전문 면접관입니다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다음 </a:t>
            </a:r>
            <a:r>
              <a:rPr lang="ko-KR" altLang="en-US" sz="1300" b="1" u="sng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프로필과 실시간 </a:t>
            </a:r>
            <a:r>
              <a:rPr lang="ko-KR" altLang="en-US" sz="1300" b="1" u="sng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스크래핑한</a:t>
            </a:r>
            <a:r>
              <a:rPr lang="ko-KR" altLang="en-US" sz="1300" b="1" u="sng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기출질문 정보를 바탕으로 면접 질문을 생성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해주세요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프로필은 스킬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희망직무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</a:t>
            </a:r>
          </a:p>
          <a:p>
            <a:pPr>
              <a:lnSpc>
                <a:spcPct val="170000"/>
              </a:lnSpc>
            </a:pP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기출질문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(10</a:t>
            </a: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회사 문화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~~~,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총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 면접질문을 아래 형식으로 응답은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JSON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형식으로 해주세요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~~~</a:t>
            </a: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5. GPT-5-mini API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호출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(prompt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response_format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전달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6. GPT API </a:t>
            </a:r>
            <a:r>
              <a:rPr lang="ko-KR" altLang="en-US" sz="1300" b="1" u="sng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장애 시 사전 정의한 기본 질문 </a:t>
            </a:r>
            <a:r>
              <a:rPr lang="en-US" altLang="ko-KR" sz="1300" b="1" u="sng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1300" b="1" u="sng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 제공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하여 서비스 중단 없이 사용자에게 항상 결과 제공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자기소개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지원이유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직무에 필요한 핵심 역량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본인 강정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약점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최근 공부한 기술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트렌트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7. </a:t>
            </a:r>
            <a:r>
              <a:rPr lang="ko-KR" altLang="en-US" sz="1300" b="1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프런트엔드가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생성해준 면접질문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개를 화면에 보여줌 </a:t>
            </a:r>
            <a:endParaRPr lang="en-US" sz="13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BB88C-27D2-D2C6-2F93-8E3D30EE1639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III. </a:t>
            </a:r>
            <a:r>
              <a:rPr lang="ko-KR" altLang="en-US" dirty="0"/>
              <a:t>주요 기능별 구현내용</a:t>
            </a:r>
          </a:p>
        </p:txBody>
      </p:sp>
    </p:spTree>
    <p:extLst>
      <p:ext uri="{BB962C8B-B14F-4D97-AF65-F5344CB8AC3E}">
        <p14:creationId xmlns:p14="http://schemas.microsoft.com/office/powerpoint/2010/main" val="325356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1301</TotalTime>
  <Words>1622</Words>
  <Application>Microsoft Office PowerPoint</Application>
  <PresentationFormat>A4 용지(210x297mm)</PresentationFormat>
  <Paragraphs>206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한컴 고딕</vt:lpstr>
      <vt:lpstr>Calibri Light</vt:lpstr>
      <vt:lpstr>Arial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차민희</cp:lastModifiedBy>
  <cp:revision>75</cp:revision>
  <dcterms:created xsi:type="dcterms:W3CDTF">2025-10-08T14:40:45Z</dcterms:created>
  <dcterms:modified xsi:type="dcterms:W3CDTF">2025-10-09T12:23:13Z</dcterms:modified>
</cp:coreProperties>
</file>