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80" r:id="rId14"/>
    <p:sldId id="275" r:id="rId15"/>
    <p:sldId id="276" r:id="rId16"/>
    <p:sldId id="278" r:id="rId17"/>
    <p:sldId id="282" r:id="rId18"/>
    <p:sldId id="279" r:id="rId19"/>
    <p:sldId id="281" r:id="rId20"/>
    <p:sldId id="277" r:id="rId21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04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43" y="1045"/>
      </p:cViewPr>
      <p:guideLst>
        <p:guide orient="horz" pos="2160"/>
        <p:guide pos="3120"/>
        <p:guide pos="2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D79A-AF64-8C3E-04D1-6F6D907D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BF45-26E1-8F67-8E2E-D1423482D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2F811-A086-3549-1DCA-BC238AB99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40CA-419F-08FB-04DB-A5D432F50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6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08E0-C800-BB19-1116-2D66F956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FAE68-3AA1-48C0-E6DA-60D322D85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8C4C-4740-F0B4-5DAF-A2F09D8C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30AD0-75FA-FF2F-92B9-A45348CE3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2471-7814-CFAE-5514-51984239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827-CAC2-5EC0-372D-3C3C52693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7D40-61FB-2EB7-C3E8-54231E8C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AFB08-C4EC-864E-501D-F77103A97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C8F-F5E3-D958-41D9-9C576140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8D89-FC91-E4E0-EEBF-F9937488D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1B41F-B53C-47FF-7AB3-F4DE5B0B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07F16-8B55-F34F-F4A9-BCC037BF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5C9A-2F2C-171F-099C-65BA66D3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37F3-1DD1-793D-69EF-DD291A488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FE60-34B2-4C56-DB76-5A180EB0F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92B7-A33C-E0BE-2F69-ACB53DBCA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3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9AC5-BA04-32B9-8AB4-3E60D0F2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FFA8-F743-4E60-1955-B542B5F23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84F0D-9053-99EE-EA5B-CA246FF8B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82E8E-E19D-EB33-C3B5-F8D489618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82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5516-3143-011C-ECC3-10F34EBE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34E2-2013-D79F-FBAE-8523412DD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08141-7AD5-D4C3-1FF5-EE8B805A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A3A3-91A3-5718-080C-42121DAB5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82EA-DD11-6239-7992-8F7C4AED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C0312-8739-6356-B5E1-DB03873B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59C70-3B4A-7569-276A-22AD8E061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CA64E-AD8A-46B0-D2AF-C1313A051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82D4-EACB-BF3A-D0E6-02BAF130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D083E-D418-A6CD-81CC-3170C9EBE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7B0BD-809D-DDCB-2481-E5D5AE0DC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7C400-9B8C-8DF5-8739-E176AFE5D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43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770D-9CFB-F118-F89E-B517834C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86DEA-10D4-544C-37EB-61212770B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611FE-D1F6-08EA-B3A7-E7D7FD28E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DFA6D-63CB-44B4-720F-592FB538F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2D69-3377-6FDC-F3D8-B1A90EF6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FE531-2BB9-949A-9506-9CF89631D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C3C5A-6857-1700-D3DB-95BBA624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9343-254F-35A2-67B7-15136738A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31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DB4D-A83E-CB2B-8AE5-FA39FF09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F562B-01B4-352C-CF2F-3076FC6F5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C094-B93F-04D6-6EEA-C4446EB1C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02431-FB12-C9A3-F185-B166B8B5E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8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4D76-C9C3-AFEA-E55C-51D130E5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84D97-9205-960E-33A3-713883E41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FA647-DA84-B05A-294F-96358CE11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E4DD5-9737-BDF6-6506-F06596542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49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23B8-9DA4-94CA-D9D0-466B00A6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9F86D-ED3B-E709-FD1E-0F8611059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76983-0215-D004-31BE-43B85951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03F77-EFEE-D404-2392-5AD040C1B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59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3689-11E8-E72E-179A-CAD7123D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41254-3195-42EE-6568-AA2A11DE7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CE105-BF62-8052-5052-F9D18B80B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29FF2-196A-BE79-1617-A5F06CF15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52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C90E-0E15-FD5A-53F5-C4FD99AC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C22EE-F146-64FA-2EF7-FE45AE3CE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F00A5-48EA-A36D-26F5-2D81AB14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A454D-DDA5-CD1A-D9D6-ACC0C9ACA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5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ammy447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2025.10.08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728291"/>
            <a:ext cx="2981028" cy="37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7"/>
              </a:lnSpc>
            </a:pP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en-US" sz="1907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프로젝트</a:t>
            </a:r>
            <a:r>
              <a:rPr lang="en-US" sz="1907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핵심 가치</a:t>
            </a:r>
            <a:endParaRPr lang="en-US" sz="1907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93515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27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2" y="1622874"/>
            <a:ext cx="160958" cy="201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727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GPT-5-mini AI 추천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2727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맞춤형 채용공고 자동 매칭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08700" y="1425453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27912" y="1544665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87" y="1622874"/>
            <a:ext cx="160958" cy="201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7911" y="2021585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427911" y="2279356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리뷰 20건 </a:t>
            </a:r>
            <a:r>
              <a:rPr lang="ko-KR" alt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활용한 맞춤형 질문 생성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515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12727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02" y="3968369"/>
            <a:ext cx="160958" cy="201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727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간편 로그인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2727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소셜 로그인으로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빠른</a:t>
            </a: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시작</a:t>
            </a:r>
            <a:endParaRPr lang="en-US" sz="16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308700" y="3770947"/>
            <a:ext cx="4095080" cy="1802539"/>
          </a:xfrm>
          <a:prstGeom prst="roundRect">
            <a:avLst>
              <a:gd name="adj" fmla="val 1537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27912" y="3890159"/>
            <a:ext cx="357708" cy="357708"/>
          </a:xfrm>
          <a:prstGeom prst="roundRect">
            <a:avLst>
              <a:gd name="adj" fmla="val 15975115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6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287" y="3968369"/>
            <a:ext cx="160958" cy="201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7911" y="4367079"/>
            <a:ext cx="14905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7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최적화된 성능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427911" y="4624849"/>
            <a:ext cx="385665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 캐싱으로 빠른 응답 속도 제공</a:t>
            </a:r>
            <a:endParaRPr 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47442-9186-FA17-8DF2-1CE541ADE690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0024" y="671378"/>
            <a:ext cx="3473425" cy="43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7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기술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스택 아키텍처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887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프론트엔드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879" y="1679944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19.2.0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React Router DOM 7.9.3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빌드 도구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Vite 7.1.9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HTTP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클라이언트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Axios 1.12.2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스타일링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CSS3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인라인 스타일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+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디자인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0589" y="1280489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0589" y="1658776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런타임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Node.js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프레임워크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Express 5.1.0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MySQL 2 (AWS RDS)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JWT (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jose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6.1.0)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Kakao OAuth 2.0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연동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OpenAI API 6.2.0 (GPT-5-mini)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웹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Cheerio 1.1.2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Multer 2.0.2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Swagger </a:t>
            </a:r>
          </a:p>
          <a:p>
            <a:pPr>
              <a:lnSpc>
                <a:spcPts val="1750"/>
              </a:lnSpc>
              <a:buSzPct val="100000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(swagger-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jsdoc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swagger-</a:t>
            </a:r>
            <a:r>
              <a:rPr lang="en-US" altLang="ko-KR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-express)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배포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</p:txBody>
      </p:sp>
      <p:sp>
        <p:nvSpPr>
          <p:cNvPr id="16" name="Text 13"/>
          <p:cNvSpPr/>
          <p:nvPr/>
        </p:nvSpPr>
        <p:spPr>
          <a:xfrm>
            <a:off x="518879" y="4042470"/>
            <a:ext cx="2084040" cy="260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32"/>
              </a:lnSpc>
            </a:pPr>
            <a:r>
              <a:rPr lang="en-US" sz="1625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외부 서비스</a:t>
            </a:r>
            <a:endParaRPr lang="en-US" sz="1625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18879" y="4441925"/>
            <a:ext cx="2201838" cy="2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094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Python Flask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채용공고 수집 서비스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OpenAI GPT-5-mini: AI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 및 면접 질문 생성</a:t>
            </a:r>
          </a:p>
          <a:p>
            <a:pPr marL="214304" indent="-214304">
              <a:lnSpc>
                <a:spcPts val="1750"/>
              </a:lnSpc>
              <a:buSzPct val="100000"/>
              <a:buChar char="•"/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 인증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CB0BB-F90B-6866-3F50-EDA94B9D1298}"/>
              </a:ext>
            </a:extLst>
          </p:cNvPr>
          <p:cNvSpPr txBox="1"/>
          <p:nvPr/>
        </p:nvSpPr>
        <p:spPr>
          <a:xfrm>
            <a:off x="277698" y="95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27" y="6073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주요</a:t>
            </a: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기능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1580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1580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1580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카카오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소셜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로그인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및 사용자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1580" y="186040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2.0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소셜 로그인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세션 관리</a:t>
            </a:r>
          </a:p>
          <a:p>
            <a:pPr marL="178587" indent="-178587">
              <a:lnSpc>
                <a:spcPts val="1782"/>
              </a:lnSpc>
              <a:buFontTx/>
              <a:buChar char="-"/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관리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지역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회원 탈퇴 기능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71643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71643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98020" y="471041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이력서 관리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98020" y="50169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업로드 및 저장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사용자별 스킬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선호 직무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프로필 정보 업데이트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1259" y="1223049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71259" y="1444952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1644" y="1553894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채용정보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추천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71644" y="1860407"/>
            <a:ext cx="3185716" cy="127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 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추천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GPT-5-mini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모델을 활용한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알고리즘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 점수 및 추천 이유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세션 기반 추천 결과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0921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04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0921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1258" y="1551699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면접 준비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89884" y="1810771"/>
            <a:ext cx="3363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및 포지션 기반 맞춤형 면접 질문 생성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20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건의 회사 리뷰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및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DB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데이터 통합 활용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질문 난이도 및 카테고리 분류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GPT-5-mini fallback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로직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장애 대응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조건 이력 저장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98020" y="4365432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05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98020" y="4587334"/>
            <a:ext cx="4004965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0921" y="4741520"/>
            <a:ext cx="1772022" cy="221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채용공고 검색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0921" y="504803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분야 채용공고 제공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Catch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기반 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카테고리별 채용공고 조회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(IT, BIGDATA_AI)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 정보 제공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441A6-E750-BE5C-1BD7-E2DEB8919FB4}"/>
              </a:ext>
            </a:extLst>
          </p:cNvPr>
          <p:cNvSpPr txBox="1"/>
          <p:nvPr/>
        </p:nvSpPr>
        <p:spPr>
          <a:xfrm>
            <a:off x="225447" y="95341"/>
            <a:ext cx="772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AE21-F273-2A60-923B-E1B073B6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4E772B-D07D-DEDD-39A8-BB10D8569E77}"/>
              </a:ext>
            </a:extLst>
          </p:cNvPr>
          <p:cNvSpPr/>
          <p:nvPr/>
        </p:nvSpPr>
        <p:spPr>
          <a:xfrm>
            <a:off x="328638" y="54007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프런트엔드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F2DACC-3A56-0A82-65EB-EC7B8A8F9760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769535-0A30-3AB3-D485-BE36B216A1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5EF13-9316-E910-1370-36E144B3A358}"/>
              </a:ext>
            </a:extLst>
          </p:cNvPr>
          <p:cNvSpPr/>
          <p:nvPr/>
        </p:nvSpPr>
        <p:spPr>
          <a:xfrm>
            <a:off x="386399" y="1385704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src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pages/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페이지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메인 홈 페이지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미리보기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CallbackPage.jsx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OAuth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콜백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AIRecommendationPage.jsx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추천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AIInterviewPage.jsx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# 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질문 생성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BIGDATA/AI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ITJobsPage.jsx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# IT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JobDetailPage.jsx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상세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이력서 관리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MenuPage.jsx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전체 메뉴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components/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재사용 컴포넌트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Header.jsx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상단 헤더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Navigation.jsx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하단 네비게이션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config.js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(API URL, Kakao Key)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App.jsx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라우팅 설정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main.jsx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앱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진입점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vite.config.js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2BD373-B80F-2F84-9B9B-0D92F578341B}"/>
              </a:ext>
            </a:extLst>
          </p:cNvPr>
          <p:cNvSpPr/>
          <p:nvPr/>
        </p:nvSpPr>
        <p:spPr>
          <a:xfrm>
            <a:off x="5633056" y="1051311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70FF7B1-084F-EAC3-1F47-7A3186DD110E}"/>
              </a:ext>
            </a:extLst>
          </p:cNvPr>
          <p:cNvSpPr/>
          <p:nvPr/>
        </p:nvSpPr>
        <p:spPr>
          <a:xfrm>
            <a:off x="5633056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10D14-F4F6-393A-1133-E73BF18C867A}"/>
              </a:ext>
            </a:extLst>
          </p:cNvPr>
          <p:cNvSpPr/>
          <p:nvPr/>
        </p:nvSpPr>
        <p:spPr>
          <a:xfrm>
            <a:off x="5591250" y="1398037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React Router DOM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SPA 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(Single Page Application)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환경별 자동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URL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(localhost/production)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localStorage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토큰 관리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반응형 디자인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모바일 우선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글래스모피즘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디자인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(backdrop-filter,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그라데이션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E2FBC9-A81D-FD2C-FD2F-C3C5AFBFE21A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17767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148C-49BE-9920-3499-E64334BC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51011D-4D08-04C3-6C0B-6E5873426C7B}"/>
              </a:ext>
            </a:extLst>
          </p:cNvPr>
          <p:cNvSpPr/>
          <p:nvPr/>
        </p:nvSpPr>
        <p:spPr>
          <a:xfrm>
            <a:off x="467989" y="7025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</a:t>
            </a:r>
            <a:r>
              <a:rPr lang="ko-KR" altLang="en-US" sz="1875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백엔드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 구조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1582C-26FD-683B-DB03-18C215A41564}"/>
              </a:ext>
            </a:extLst>
          </p:cNvPr>
          <p:cNvSpPr/>
          <p:nvPr/>
        </p:nvSpPr>
        <p:spPr>
          <a:xfrm>
            <a:off x="482208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AB20DE-2B99-8461-581F-67DDF2E9579C}"/>
              </a:ext>
            </a:extLst>
          </p:cNvPr>
          <p:cNvSpPr/>
          <p:nvPr/>
        </p:nvSpPr>
        <p:spPr>
          <a:xfrm>
            <a:off x="482208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830D9-914B-09E1-D2AB-B8EF4B84C4E7}"/>
              </a:ext>
            </a:extLst>
          </p:cNvPr>
          <p:cNvSpPr/>
          <p:nvPr/>
        </p:nvSpPr>
        <p:spPr>
          <a:xfrm>
            <a:off x="482207" y="1916931"/>
            <a:ext cx="49296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backend/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server.js                        # Express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메인 파일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(5000+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database-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setup.sql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# MySQL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데이터베이스 스키마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routes/                           # API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라우트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모듈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catch-scraper-service/ # Python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│   └──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catch_scraper.py   # Flask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웹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스크래퍼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uploads/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업로드 파일 저장소</a:t>
            </a:r>
          </a:p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├──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package.json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└── .env                                #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환경 변수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8CE708-F19D-E585-88FB-564AFFB28051}"/>
              </a:ext>
            </a:extLst>
          </p:cNvPr>
          <p:cNvSpPr/>
          <p:nvPr/>
        </p:nvSpPr>
        <p:spPr>
          <a:xfrm>
            <a:off x="6547471" y="1582538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B029CB-D1EB-5700-E16F-E2B97A04F1B0}"/>
              </a:ext>
            </a:extLst>
          </p:cNvPr>
          <p:cNvSpPr/>
          <p:nvPr/>
        </p:nvSpPr>
        <p:spPr>
          <a:xfrm>
            <a:off x="6547471" y="1804440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6E81C74-E73C-4036-C1B6-7EEA774477BC}"/>
              </a:ext>
            </a:extLst>
          </p:cNvPr>
          <p:cNvSpPr/>
          <p:nvPr/>
        </p:nvSpPr>
        <p:spPr>
          <a:xfrm>
            <a:off x="6505665" y="1929264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Express 5.1.0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기반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RESTful API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MySQL2 Connection Pool 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최대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JWT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인증 미들웨어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CORS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설정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다중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origin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지원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Swagger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문서화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(/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-docs)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파일 업로드 처리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(Multer)</a:t>
            </a:r>
          </a:p>
          <a:p>
            <a:pPr>
              <a:lnSpc>
                <a:spcPts val="1782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OpenAI 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통합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C9D87-9135-4F7C-8FE4-554D4E15AFB0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72195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73F-50E7-D054-281A-D5EE87A7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66485A-E941-1D27-A8EC-5EA4B6309DB8}"/>
              </a:ext>
            </a:extLst>
          </p:cNvPr>
          <p:cNvSpPr/>
          <p:nvPr/>
        </p:nvSpPr>
        <p:spPr>
          <a:xfrm>
            <a:off x="397504" y="62952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3.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데이터베이스 스키마</a:t>
            </a: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(MySQL)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A4506C-60E7-A959-F734-14890A036CD4}"/>
              </a:ext>
            </a:extLst>
          </p:cNvPr>
          <p:cNvSpPr/>
          <p:nvPr/>
        </p:nvSpPr>
        <p:spPr>
          <a:xfrm>
            <a:off x="453085" y="1166975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정보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70095B-456C-E413-B986-CECB56158A58}"/>
              </a:ext>
            </a:extLst>
          </p:cNvPr>
          <p:cNvSpPr/>
          <p:nvPr/>
        </p:nvSpPr>
        <p:spPr>
          <a:xfrm>
            <a:off x="453085" y="138887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5469C0-3FC0-9B0E-F10D-A91A54B51282}"/>
              </a:ext>
            </a:extLst>
          </p:cNvPr>
          <p:cNvSpPr/>
          <p:nvPr/>
        </p:nvSpPr>
        <p:spPr>
          <a:xfrm>
            <a:off x="462609" y="1501369"/>
            <a:ext cx="550956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(PK, AUTO_INCREMENT)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provider_key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 (ex: 'kakao:12345')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email: VARCHAR(255)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name: VARCHAR(100)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picture: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provider: ENUM('google', '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34CF97B-00A9-C78F-4A56-E933BDE5726C}"/>
              </a:ext>
            </a:extLst>
          </p:cNvPr>
          <p:cNvSpPr/>
          <p:nvPr/>
        </p:nvSpPr>
        <p:spPr>
          <a:xfrm>
            <a:off x="453084" y="3623089"/>
            <a:ext cx="20113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 </a:t>
            </a:r>
            <a:r>
              <a:rPr 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User_Profiles</a:t>
            </a: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사용자 프로파일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28D0F65-55BE-C2CA-2D9B-CBAA8A88AA75}"/>
              </a:ext>
            </a:extLst>
          </p:cNvPr>
          <p:cNvSpPr/>
          <p:nvPr/>
        </p:nvSpPr>
        <p:spPr>
          <a:xfrm>
            <a:off x="453085" y="384499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D359FA-1AED-1E79-E434-111543D76CD2}"/>
              </a:ext>
            </a:extLst>
          </p:cNvPr>
          <p:cNvSpPr/>
          <p:nvPr/>
        </p:nvSpPr>
        <p:spPr>
          <a:xfrm>
            <a:off x="453084" y="3957483"/>
            <a:ext cx="34355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INT (FK → users.id)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 (ex: ["JavaScript", "React"])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experience: VARCHAR(50) (ex: "3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년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신입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preferred_regions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JSON (ex: ["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서울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", "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경기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"])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preferred_jobs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VARCHAR(200)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expected_salary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DECIMAL(10,2)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resume_path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DEC4DA4-4226-BAEB-7A60-AEB64CFA3EC4}"/>
              </a:ext>
            </a:extLst>
          </p:cNvPr>
          <p:cNvSpPr/>
          <p:nvPr/>
        </p:nvSpPr>
        <p:spPr>
          <a:xfrm>
            <a:off x="5316456" y="1089439"/>
            <a:ext cx="260892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 Jobs 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채용 공고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) 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0FA45F3-2F18-D5CB-3DAA-1C1F108B3E52}"/>
              </a:ext>
            </a:extLst>
          </p:cNvPr>
          <p:cNvSpPr/>
          <p:nvPr/>
        </p:nvSpPr>
        <p:spPr>
          <a:xfrm>
            <a:off x="5316457" y="1311343"/>
            <a:ext cx="340191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AC484B6-918B-7E4A-D42C-326E042B7385}"/>
              </a:ext>
            </a:extLst>
          </p:cNvPr>
          <p:cNvSpPr/>
          <p:nvPr/>
        </p:nvSpPr>
        <p:spPr>
          <a:xfrm>
            <a:off x="5316456" y="1423833"/>
            <a:ext cx="445619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id: INT (PK)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job_id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UNIQUE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company_id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VARCHAR(100) (FK → companies)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title: VARCHAR(300)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description, requirements: 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skills: JSON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experience_level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VARCHAR(50)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employment_type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location, salary: VARCHAR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source,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source_url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VARCHAR/TEXT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posted_date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deadline_date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DATE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is_active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BOOLEAN</a:t>
            </a:r>
          </a:p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created_at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updated_at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TIMESTAMP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F9B0-8218-9E72-DCD3-CBBDA59C020D}"/>
              </a:ext>
            </a:extLst>
          </p:cNvPr>
          <p:cNvSpPr txBox="1"/>
          <p:nvPr/>
        </p:nvSpPr>
        <p:spPr>
          <a:xfrm>
            <a:off x="225447" y="95341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II. </a:t>
            </a:r>
            <a:r>
              <a: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 아키텍처</a:t>
            </a:r>
          </a:p>
        </p:txBody>
      </p:sp>
    </p:spTree>
    <p:extLst>
      <p:ext uri="{BB962C8B-B14F-4D97-AF65-F5344CB8AC3E}">
        <p14:creationId xmlns:p14="http://schemas.microsoft.com/office/powerpoint/2010/main" val="200358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9360-6F7D-1C9C-A6D4-0B23F54E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B06FB-E689-8DC6-8ED4-16FC4B3CF6A0}"/>
              </a:ext>
            </a:extLst>
          </p:cNvPr>
          <p:cNvSpPr/>
          <p:nvPr/>
        </p:nvSpPr>
        <p:spPr>
          <a:xfrm>
            <a:off x="344488" y="5904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1.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맞춤 채용공고 추천</a:t>
            </a:r>
          </a:p>
          <a:p>
            <a:pPr>
              <a:lnSpc>
                <a:spcPts val="3469"/>
              </a:lnSpc>
            </a:pP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45FDC-7DBE-B390-6640-2EA19734C91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695C1EC-9CBC-531C-FFD4-89C9E24AE06B}"/>
              </a:ext>
            </a:extLst>
          </p:cNvPr>
          <p:cNvSpPr/>
          <p:nvPr/>
        </p:nvSpPr>
        <p:spPr>
          <a:xfrm>
            <a:off x="378951" y="1065900"/>
            <a:ext cx="9098424" cy="276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맞춤 채용공고 추천기능은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이력서와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(DB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기반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으로 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</a:t>
            </a:r>
            <a:r>
              <a:rPr lang="ko-KR" altLang="en-US" sz="125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매칭점수가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높은 채용공고 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추천해줍니다</a:t>
            </a:r>
            <a:r>
              <a:rPr lang="en-US" altLang="ko-KR" sz="125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실시간 채용정보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 </a:t>
            </a:r>
            <a:r>
              <a:rPr lang="ko-KR" altLang="en-US" sz="125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시 시간 지연되기에 대신에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DB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기반으로 채용공고 추천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!!)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MySQL DB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에서 로그인한 사용자 이력서와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 테이블의 데이터를 조회 </a:t>
            </a:r>
            <a:endParaRPr lang="en-US" altLang="ko-KR" sz="125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- jobs(</a:t>
            </a:r>
            <a:r>
              <a:rPr lang="ko-KR" altLang="en-US" sz="125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 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채용정보</a:t>
            </a:r>
            <a:r>
              <a:rPr lang="en-US" altLang="ko-KR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ko-KR" altLang="en-US" sz="125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테이블에서 채용공고 조회</a:t>
            </a:r>
            <a:endParaRPr lang="en-US" altLang="ko-KR" sz="125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- </a:t>
            </a:r>
            <a:r>
              <a:rPr lang="en-US" altLang="ko-KR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테이블에서 사용자 이력서 조회</a:t>
            </a:r>
            <a:endParaRPr lang="en-US" altLang="ko-KR" sz="12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*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</a:t>
            </a:r>
            <a:r>
              <a:rPr lang="ko-KR" altLang="en-US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미입력시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사전 정의된 기본 프로필로 조회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(skill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125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javascript,python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희망지역은 서울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경기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직무는 개발자</a:t>
            </a:r>
            <a:r>
              <a:rPr lang="en-US" altLang="ko-KR" sz="1250" dirty="0">
                <a:latin typeface="한컴 고딕" panose="02000500000000000000" pitchFamily="2" charset="-127"/>
                <a:ea typeface="한컴 고딕" panose="02000500000000000000" pitchFamily="2" charset="-127"/>
              </a:rPr>
              <a:t>~)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생성합니다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요청내용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이력서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응답형식 등 정의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채용 추천 전문가입니다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사용자 프로필과 채용공고 목록을 분석하여 가장 적합한 채용공고를 추천해주세요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희망지역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희망연봉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채용공고 목록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(100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: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카카오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직무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지역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연봉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~~</a:t>
            </a: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위 사용자에게 가장 적합한 채용공고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6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추천하고 각 공고별로 </a:t>
            </a:r>
            <a:r>
              <a:rPr lang="ko-KR" altLang="en-US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매칭점수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추천이유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스킬 </a:t>
            </a:r>
            <a:r>
              <a:rPr lang="ko-KR" altLang="en-US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매칭도를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GPT-5-mini API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25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GPT API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매칭 알고리즘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으로 </a:t>
            </a: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채용공고를 제공하여 서비스 중단 없이 사용자에게 항상 결과 제공</a:t>
            </a:r>
            <a:endParaRPr lang="en-US" altLang="ko-KR" sz="125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기본점수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skill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매칭되는 지역 개수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X 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경력 매칭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X 10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합산점수는 최대 </a:t>
            </a:r>
            <a:r>
              <a:rPr lang="en-US" altLang="ko-KR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95</a:t>
            </a:r>
            <a:r>
              <a:rPr lang="ko-KR" altLang="en-US" sz="125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점    </a:t>
            </a:r>
            <a:endParaRPr lang="en-US" altLang="ko-KR" sz="125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전달받은 사용자 이력서와 채용공고를 매칭하여 매칭 점수 계산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추천이유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순위를 매김</a:t>
            </a:r>
            <a:endParaRPr lang="en-US" altLang="ko-KR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순위가 높은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채용정보를 반환해줌</a:t>
            </a:r>
            <a:endParaRPr lang="en-US" altLang="ko-KR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5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25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추천해준 채용공고를 화면에 보여줌 </a:t>
            </a:r>
            <a:endParaRPr lang="en-US" sz="125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9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F675-8A63-7F02-E3F5-C4F9779D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30DF9F-CC1A-69EF-E14C-FF65884F7A33}"/>
              </a:ext>
            </a:extLst>
          </p:cNvPr>
          <p:cNvSpPr/>
          <p:nvPr/>
        </p:nvSpPr>
        <p:spPr>
          <a:xfrm>
            <a:off x="464179" y="62594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altLang="ko-KR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2. AI </a:t>
            </a:r>
            <a:r>
              <a:rPr lang="ko-KR" altLang="en-US" sz="1875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면접 </a:t>
            </a:r>
            <a:endParaRPr lang="en-US" sz="1875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21899950-4674-107B-565A-E71264B4C085}"/>
              </a:ext>
            </a:extLst>
          </p:cNvPr>
          <p:cNvSpPr/>
          <p:nvPr/>
        </p:nvSpPr>
        <p:spPr>
          <a:xfrm>
            <a:off x="498642" y="1066816"/>
            <a:ext cx="8696082" cy="5448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AI 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면접 기능은 사용자가 입력한 회사명과 포지션을 기반으로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가 맞춤형 면접 질문 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개를 생성해줍니다</a:t>
            </a:r>
            <a:r>
              <a:rPr lang="en-US" altLang="ko-KR" sz="13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회사명과 지원 포지션을 입력하면 면접질문 조건을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user_interview_conditions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-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테이블에 저장 목적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사용자의 면접 준비 이력 추적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향후 데이터 분석 및 개선에 활용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, 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사용자가 자주 검색하는 회사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/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포지션 파악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2.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Catch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기출질문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건을 </a:t>
            </a:r>
            <a:r>
              <a:rPr lang="ko-KR" altLang="en-US" sz="13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3. MySQL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에서 로그인한 사용자의 이력서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user_profiles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조회합니다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4.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질문하기 위한 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Prompt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생성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합니다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당신은 전문 면접관입니다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다음 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프로필과 실시간 </a:t>
            </a:r>
            <a:r>
              <a:rPr lang="ko-KR" altLang="en-US" sz="1300" b="1" u="sng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스크래핑한</a:t>
            </a:r>
            <a:r>
              <a:rPr lang="ko-KR" altLang="en-US" sz="1300" b="1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기출질문 정보를 바탕으로 면접 질문을 생성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사용자 프로필은 스킬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경력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희망직무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</a:t>
            </a:r>
          </a:p>
          <a:p>
            <a:pPr>
              <a:lnSpc>
                <a:spcPct val="170000"/>
              </a:lnSpc>
            </a:pP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기출질문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(10</a:t>
            </a:r>
            <a:r>
              <a:rPr lang="ko-KR" altLang="en-US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건</a:t>
            </a:r>
            <a:r>
              <a:rPr lang="en-US" altLang="ko-KR" sz="13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회사 문화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~~~,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총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개 면접질문을 아래 형식으로 응답은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JSON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형식으로 해주세요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. ~~~</a:t>
            </a:r>
          </a:p>
          <a:p>
            <a:pPr>
              <a:lnSpc>
                <a:spcPct val="170000"/>
              </a:lnSpc>
            </a:pP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5. GPT-5-mini API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호출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(prompt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및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response_format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전달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)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GPT API 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장애 시 사전 정의한 기본 질문 </a:t>
            </a:r>
            <a:r>
              <a:rPr lang="en-US" altLang="ko-KR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u="sng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 제공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하여 서비스 중단 없이 사용자에게 항상 결과 제공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1)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자기소개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지원이유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직무에 필요한 핵심 역량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본인 강정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약점 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5) 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최근 공부한 기술</a:t>
            </a:r>
            <a:r>
              <a:rPr lang="en-US" altLang="ko-KR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300" b="1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트렌트</a:t>
            </a:r>
            <a:r>
              <a:rPr lang="ko-KR" alt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300" b="1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3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프런트엔드가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생성해준 면접질문 </a:t>
            </a: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개를 화면에 보여줌 </a:t>
            </a:r>
            <a:endParaRPr lang="en-US" sz="13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BB88C-27D2-D2C6-2F93-8E3D30EE16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III. </a:t>
            </a:r>
            <a:r>
              <a:rPr lang="ko-KR" altLang="en-US" dirty="0"/>
              <a:t>주요 기능별 구현내용</a:t>
            </a:r>
          </a:p>
        </p:txBody>
      </p:sp>
    </p:spTree>
    <p:extLst>
      <p:ext uri="{BB962C8B-B14F-4D97-AF65-F5344CB8AC3E}">
        <p14:creationId xmlns:p14="http://schemas.microsoft.com/office/powerpoint/2010/main" val="32535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0E8C-931C-9A71-C0C1-4D165FB4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63F6D-ACCC-FD22-9D84-26681BB0FE50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924CF2-F180-226F-79C6-FBA9F1F65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31" y="1019175"/>
            <a:ext cx="3319616" cy="5562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F2EA6B-73BF-9703-400F-1F7F256D1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882" y="1019175"/>
            <a:ext cx="3006430" cy="50863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7CBC49-EAD8-C245-EE08-7CACEBC88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53" y="1019175"/>
            <a:ext cx="2914841" cy="4752975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B33511BC-0ADD-2E80-A274-93FF0FF36302}"/>
              </a:ext>
            </a:extLst>
          </p:cNvPr>
          <p:cNvSpPr/>
          <p:nvPr/>
        </p:nvSpPr>
        <p:spPr>
          <a:xfrm>
            <a:off x="255331" y="695325"/>
            <a:ext cx="3183194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1. https://commitjob.site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초기화면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CFF7B52-F972-B07D-CE82-03BC90F4995A}"/>
              </a:ext>
            </a:extLst>
          </p:cNvPr>
          <p:cNvSpPr/>
          <p:nvPr/>
        </p:nvSpPr>
        <p:spPr>
          <a:xfrm>
            <a:off x="3638882" y="695325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안내화면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2A74ADB-2598-08DA-0FC5-9FBD01A4763E}"/>
              </a:ext>
            </a:extLst>
          </p:cNvPr>
          <p:cNvSpPr/>
          <p:nvPr/>
        </p:nvSpPr>
        <p:spPr>
          <a:xfrm>
            <a:off x="6877382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925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802F-EAAE-0DB2-A67A-E1393119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F3E3A-A8D5-4598-A571-564C6A4C91A8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D630EF-FDC0-BA9B-CBC0-1EAC933D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1036775"/>
            <a:ext cx="2652445" cy="42921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98FC69-287E-CF9F-F78D-5BB1A0122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325" y="1036775"/>
            <a:ext cx="3208313" cy="534277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320BAFA-4FF4-3ADE-A1B4-2B9135696EDD}"/>
              </a:ext>
            </a:extLst>
          </p:cNvPr>
          <p:cNvSpPr/>
          <p:nvPr/>
        </p:nvSpPr>
        <p:spPr>
          <a:xfrm>
            <a:off x="437388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QR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AFEB2A0-A6E0-5D99-B235-EF1B5758E092}"/>
              </a:ext>
            </a:extLst>
          </p:cNvPr>
          <p:cNvSpPr/>
          <p:nvPr/>
        </p:nvSpPr>
        <p:spPr>
          <a:xfrm>
            <a:off x="3228213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로그인한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commitjob.site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홈화면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894056-5B21-9277-74EF-4BBF8573D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555" y="1059780"/>
            <a:ext cx="3238736" cy="54292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78B9F6-6D00-9437-AA24-1FAEA601EE2F}"/>
              </a:ext>
            </a:extLst>
          </p:cNvPr>
          <p:cNvSpPr txBox="1"/>
          <p:nvPr/>
        </p:nvSpPr>
        <p:spPr>
          <a:xfrm>
            <a:off x="6467555" y="65850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 메뉴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8109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EF3-01E9-9815-D8A7-F7D5086C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29F58-3B68-EB87-9481-82C227E1B4ED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00277-B5E9-6340-8BF2-9E338AA17FC2}"/>
              </a:ext>
            </a:extLst>
          </p:cNvPr>
          <p:cNvSpPr txBox="1"/>
          <p:nvPr/>
        </p:nvSpPr>
        <p:spPr>
          <a:xfrm>
            <a:off x="3922736" y="687273"/>
            <a:ext cx="29819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로그아웃 화면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9FFC0-02D3-6BA3-503B-596A3A47CBDB}"/>
              </a:ext>
            </a:extLst>
          </p:cNvPr>
          <p:cNvSpPr txBox="1"/>
          <p:nvPr/>
        </p:nvSpPr>
        <p:spPr>
          <a:xfrm>
            <a:off x="7140573" y="68899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회원 탈회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화면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BA7F04-2ED0-76AC-4B7B-AD3FAB2BF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188" y="1081087"/>
            <a:ext cx="2692001" cy="45053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8D2C6E-8D8E-AFBC-8326-F92486BD7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571" y="1081087"/>
            <a:ext cx="2664779" cy="44746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DB19A5-07B7-BEBB-AD02-88D463805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88" y="1061238"/>
            <a:ext cx="3208313" cy="5342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9AB6E6-5D3A-3983-DC80-8B4257B37349}"/>
              </a:ext>
            </a:extLst>
          </p:cNvPr>
          <p:cNvSpPr txBox="1"/>
          <p:nvPr/>
        </p:nvSpPr>
        <p:spPr>
          <a:xfrm>
            <a:off x="382588" y="686336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프로필 화면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7349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898F-43B5-1864-C468-2960CC13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5160B7-4CA1-F3A9-8ECF-C22530402C2C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2F02C-1B55-003A-E2E3-507BC12908F1}"/>
              </a:ext>
            </a:extLst>
          </p:cNvPr>
          <p:cNvSpPr txBox="1"/>
          <p:nvPr/>
        </p:nvSpPr>
        <p:spPr>
          <a:xfrm>
            <a:off x="315936" y="661873"/>
            <a:ext cx="89804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최초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로그인시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users(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생성 로그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046AF-8942-7492-300D-59BC82384650}"/>
              </a:ext>
            </a:extLst>
          </p:cNvPr>
          <p:cNvSpPr txBox="1"/>
          <p:nvPr/>
        </p:nvSpPr>
        <p:spPr>
          <a:xfrm>
            <a:off x="292124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endParaRPr lang="en-US" altLang="ko-KR" dirty="0"/>
          </a:p>
          <a:p>
            <a:pPr fontAlgn="t" latinLnBrk="1"/>
            <a:r>
              <a:rPr lang="en-US" altLang="ko-KR" dirty="0"/>
              <a:t>[KAKAO-CALLBACK] </a:t>
            </a:r>
            <a:r>
              <a:rPr lang="en-US" altLang="ko-KR" dirty="0">
                <a:solidFill>
                  <a:srgbClr val="FF0000"/>
                </a:solidFill>
              </a:rPr>
              <a:t>Kakao user data: { id: 4476649013, nickname: '</a:t>
            </a:r>
            <a:r>
              <a:rPr lang="ko-KR" altLang="en-US" dirty="0">
                <a:solidFill>
                  <a:srgbClr val="FF0000"/>
                </a:solidFill>
              </a:rPr>
              <a:t>민희</a:t>
            </a:r>
            <a:r>
              <a:rPr lang="en-US" altLang="ko-KR" dirty="0">
                <a:solidFill>
                  <a:srgbClr val="FF0000"/>
                </a:solidFill>
              </a:rPr>
              <a:t>', </a:t>
            </a:r>
            <a:r>
              <a:rPr lang="en-US" altLang="ko-KR" dirty="0" err="1">
                <a:solidFill>
                  <a:srgbClr val="FF0000"/>
                </a:solidFill>
              </a:rPr>
              <a:t>has_email</a:t>
            </a:r>
            <a:r>
              <a:rPr lang="en-US" altLang="ko-KR" dirty="0">
                <a:solidFill>
                  <a:srgbClr val="FF0000"/>
                </a:solidFill>
              </a:rPr>
              <a:t>: true }</a:t>
            </a:r>
          </a:p>
          <a:p>
            <a:pPr fontAlgn="t" latinLnBrk="1"/>
            <a:r>
              <a:rPr lang="en-US" altLang="ko-KR" dirty="0"/>
              <a:t>[KAKAO-CALLBACK] Creating/finding user with </a:t>
            </a:r>
            <a:r>
              <a:rPr lang="en-US" altLang="ko-KR" dirty="0" err="1"/>
              <a:t>providerKey</a:t>
            </a:r>
            <a:r>
              <a:rPr lang="en-US" altLang="ko-KR" dirty="0"/>
              <a:t>: kakao:4476649013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[DB] </a:t>
            </a:r>
            <a:r>
              <a:rPr lang="ko-KR" altLang="en-US" dirty="0">
                <a:solidFill>
                  <a:srgbClr val="FF0000"/>
                </a:solidFill>
              </a:rPr>
              <a:t>최초 로그인 </a:t>
            </a: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새 사용자 생성 </a:t>
            </a:r>
            <a:r>
              <a:rPr lang="en-US" altLang="ko-KR" dirty="0">
                <a:solidFill>
                  <a:srgbClr val="FF0000"/>
                </a:solidFill>
              </a:rPr>
              <a:t>SQL: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SQL: INSERT INTO users (</a:t>
            </a:r>
            <a:r>
              <a:rPr lang="en-US" altLang="ko-KR" dirty="0" err="1">
                <a:solidFill>
                  <a:srgbClr val="FF0000"/>
                </a:solidFill>
              </a:rPr>
              <a:t>provider_key</a:t>
            </a:r>
            <a:r>
              <a:rPr lang="en-US" altLang="ko-KR" dirty="0">
                <a:solidFill>
                  <a:srgbClr val="FF0000"/>
                </a:solidFill>
              </a:rPr>
              <a:t>, email, name, picture, provider) VALUES (?, ?, ?, ?, ?)</a:t>
            </a:r>
          </a:p>
          <a:p>
            <a:pPr fontAlgn="t" latinLnBrk="1"/>
            <a:r>
              <a:rPr lang="en-US" altLang="ko-KR" dirty="0">
                <a:solidFill>
                  <a:srgbClr val="FF0000"/>
                </a:solidFill>
              </a:rPr>
              <a:t>Params: ["kakao:4476649013","hammy447@gmail.com","</a:t>
            </a:r>
            <a:r>
              <a:rPr lang="ko-KR" altLang="en-US" dirty="0">
                <a:solidFill>
                  <a:srgbClr val="FF0000"/>
                </a:solidFill>
              </a:rPr>
              <a:t>민희</a:t>
            </a:r>
            <a:r>
              <a:rPr lang="en-US" altLang="ko-KR" dirty="0">
                <a:solidFill>
                  <a:srgbClr val="FF0000"/>
                </a:solidFill>
              </a:rPr>
              <a:t>","http://k.kakaocdn.net/</a:t>
            </a:r>
            <a:r>
              <a:rPr lang="en-US" altLang="ko-KR" dirty="0" err="1">
                <a:solidFill>
                  <a:srgbClr val="FF0000"/>
                </a:solidFill>
              </a:rPr>
              <a:t>dn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bmMhzO</a:t>
            </a:r>
            <a:r>
              <a:rPr lang="en-US" altLang="ko-KR" dirty="0">
                <a:solidFill>
                  <a:srgbClr val="FF0000"/>
                </a:solidFill>
              </a:rPr>
              <a:t>/btsP0gx6X1S/qk4olOdQ3OSiQXJQes77Uk/img_640x640.jpg","kakao"]</a:t>
            </a:r>
          </a:p>
          <a:p>
            <a:pPr fontAlgn="t" latinLnBrk="1"/>
            <a:r>
              <a:rPr lang="en-US" altLang="ko-KR" dirty="0"/>
              <a:t>[DB] </a:t>
            </a:r>
            <a:r>
              <a:rPr lang="ko-KR" altLang="en-US" dirty="0"/>
              <a:t>✅ 새 사용자 생성 완료 </a:t>
            </a:r>
            <a:r>
              <a:rPr lang="en-US" altLang="ko-KR" dirty="0"/>
              <a:t>- ID: 55 , Email: </a:t>
            </a:r>
            <a:r>
              <a:rPr lang="en-US" altLang="ko-KR" dirty="0">
                <a:hlinkClick r:id="rId3"/>
              </a:rPr>
              <a:t>hammy447@gmail.com</a:t>
            </a:r>
            <a:endParaRPr lang="en-US" altLang="ko-KR" dirty="0"/>
          </a:p>
          <a:p>
            <a:pPr fontAlgn="t" latinLnBrk="1"/>
            <a:endParaRPr lang="en-US" altLang="ko-KR" dirty="0"/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[DB] </a:t>
            </a:r>
            <a:r>
              <a:rPr lang="ko-KR" altLang="en-US" dirty="0">
                <a:solidFill>
                  <a:srgbClr val="0000FF"/>
                </a:solidFill>
              </a:rPr>
              <a:t>기본 프로필 생성 </a:t>
            </a:r>
            <a:r>
              <a:rPr lang="en-US" altLang="ko-KR" dirty="0">
                <a:solidFill>
                  <a:srgbClr val="0000FF"/>
                </a:solidFill>
              </a:rPr>
              <a:t>SQL: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SQL: INSERT INTO </a:t>
            </a:r>
            <a:r>
              <a:rPr lang="en-US" altLang="ko-KR" dirty="0" err="1">
                <a:solidFill>
                  <a:srgbClr val="0000FF"/>
                </a:solidFill>
              </a:rPr>
              <a:t>user_profiles</a:t>
            </a:r>
            <a:r>
              <a:rPr lang="en-US" altLang="ko-KR" dirty="0">
                <a:solidFill>
                  <a:srgbClr val="0000FF"/>
                </a:solidFill>
              </a:rPr>
              <a:t> (</a:t>
            </a:r>
            <a:r>
              <a:rPr lang="en-US" altLang="ko-KR" dirty="0" err="1">
                <a:solidFill>
                  <a:srgbClr val="0000FF"/>
                </a:solidFill>
              </a:rPr>
              <a:t>user_id</a:t>
            </a:r>
            <a:r>
              <a:rPr lang="en-US" altLang="ko-KR" dirty="0">
                <a:solidFill>
                  <a:srgbClr val="0000FF"/>
                </a:solidFill>
              </a:rPr>
              <a:t>, skills, experience, </a:t>
            </a:r>
            <a:r>
              <a:rPr lang="en-US" altLang="ko-KR" dirty="0" err="1">
                <a:solidFill>
                  <a:srgbClr val="0000FF"/>
                </a:solidFill>
              </a:rPr>
              <a:t>preferred_regions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preferred_jobs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expected_salary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created_at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en-US" altLang="ko-KR" dirty="0" err="1">
                <a:solidFill>
                  <a:srgbClr val="0000FF"/>
                </a:solidFill>
              </a:rPr>
              <a:t>updated_at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VALUES (?, ?, ?, ?, ?, ?, NOW(), NOW())</a:t>
            </a:r>
          </a:p>
          <a:p>
            <a:pPr fontAlgn="t" latinLnBrk="1"/>
            <a:r>
              <a:rPr lang="en-US" altLang="ko-KR" dirty="0">
                <a:solidFill>
                  <a:srgbClr val="0000FF"/>
                </a:solidFill>
              </a:rPr>
              <a:t>Params: [55,"[\"Java\",\"Spring\",\"MySQL\",\"Node.js\",\"AWS\"]","</a:t>
            </a:r>
            <a:r>
              <a:rPr lang="ko-KR" altLang="en-US" dirty="0">
                <a:solidFill>
                  <a:srgbClr val="0000FF"/>
                </a:solidFill>
              </a:rPr>
              <a:t>신입</a:t>
            </a:r>
            <a:r>
              <a:rPr lang="en-US" altLang="ko-KR" dirty="0">
                <a:solidFill>
                  <a:srgbClr val="0000FF"/>
                </a:solidFill>
              </a:rPr>
              <a:t>","[\"</a:t>
            </a:r>
            <a:r>
              <a:rPr lang="ko-KR" altLang="en-US" dirty="0">
                <a:solidFill>
                  <a:srgbClr val="0000FF"/>
                </a:solidFill>
              </a:rPr>
              <a:t>서울</a:t>
            </a:r>
            <a:r>
              <a:rPr lang="en-US" altLang="ko-KR" dirty="0">
                <a:solidFill>
                  <a:srgbClr val="0000FF"/>
                </a:solidFill>
              </a:rPr>
              <a:t>\",\"</a:t>
            </a:r>
            <a:r>
              <a:rPr lang="ko-KR" altLang="en-US" dirty="0">
                <a:solidFill>
                  <a:srgbClr val="0000FF"/>
                </a:solidFill>
              </a:rPr>
              <a:t>경기</a:t>
            </a:r>
            <a:r>
              <a:rPr lang="en-US" altLang="ko-KR" dirty="0">
                <a:solidFill>
                  <a:srgbClr val="0000FF"/>
                </a:solidFill>
              </a:rPr>
              <a:t>\"]","</a:t>
            </a:r>
            <a:r>
              <a:rPr lang="ko-KR" altLang="en-US" dirty="0" err="1">
                <a:solidFill>
                  <a:srgbClr val="0000FF"/>
                </a:solidFill>
              </a:rPr>
              <a:t>백엔드</a:t>
            </a:r>
            <a:r>
              <a:rPr lang="ko-KR" altLang="en-US" dirty="0">
                <a:solidFill>
                  <a:srgbClr val="0000FF"/>
                </a:solidFill>
              </a:rPr>
              <a:t> 개발자</a:t>
            </a:r>
            <a:r>
              <a:rPr lang="en-US" altLang="ko-KR" dirty="0">
                <a:solidFill>
                  <a:srgbClr val="0000FF"/>
                </a:solidFill>
              </a:rPr>
              <a:t>","3000</a:t>
            </a:r>
            <a:r>
              <a:rPr lang="ko-KR" altLang="en-US" dirty="0">
                <a:solidFill>
                  <a:srgbClr val="0000FF"/>
                </a:solidFill>
              </a:rPr>
              <a:t>만원 이상</a:t>
            </a:r>
            <a:r>
              <a:rPr lang="en-US" altLang="ko-KR" dirty="0">
                <a:solidFill>
                  <a:srgbClr val="0000FF"/>
                </a:solidFill>
              </a:rPr>
              <a:t>"]</a:t>
            </a:r>
          </a:p>
          <a:p>
            <a:pPr fontAlgn="t" latinLnBrk="1"/>
            <a:r>
              <a:rPr lang="en-US" altLang="ko-KR" dirty="0"/>
              <a:t>[DB] </a:t>
            </a:r>
            <a:r>
              <a:rPr lang="ko-KR" altLang="en-US" dirty="0"/>
              <a:t>✅ 기본 프로필 생성 완료</a:t>
            </a:r>
            <a:r>
              <a:rPr lang="en-US" altLang="ko-KR" dirty="0"/>
              <a:t>: </a:t>
            </a:r>
            <a:r>
              <a:rPr lang="ko-KR" altLang="en-US" dirty="0" err="1"/>
              <a:t>백엔드</a:t>
            </a:r>
            <a:r>
              <a:rPr lang="ko-KR" altLang="en-US" dirty="0"/>
              <a:t> 개발자</a:t>
            </a:r>
          </a:p>
        </p:txBody>
      </p:sp>
    </p:spTree>
    <p:extLst>
      <p:ext uri="{BB962C8B-B14F-4D97-AF65-F5344CB8AC3E}">
        <p14:creationId xmlns:p14="http://schemas.microsoft.com/office/powerpoint/2010/main" val="221691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7856-B401-2FB5-5091-54578525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C921AB-63CB-325E-5B16-95052CDC6B1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DB009-5C1D-9652-BB4D-6449D1A5BA74}"/>
              </a:ext>
            </a:extLst>
          </p:cNvPr>
          <p:cNvSpPr txBox="1"/>
          <p:nvPr/>
        </p:nvSpPr>
        <p:spPr>
          <a:xfrm>
            <a:off x="315936" y="661873"/>
            <a:ext cx="346548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사전에 정의된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백엔드개발자</a:t>
            </a:r>
            <a:endParaRPr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</a:t>
            </a: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개발자로 랜덤 생성됨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1B643-8761-345C-A99A-C71CDF708442}"/>
              </a:ext>
            </a:extLst>
          </p:cNvPr>
          <p:cNvSpPr txBox="1"/>
          <p:nvPr/>
        </p:nvSpPr>
        <p:spPr>
          <a:xfrm>
            <a:off x="3352797" y="688998"/>
            <a:ext cx="30313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카테고리별 채용공고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샘플 조회할 수 있고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전체 채용공고를 조회 가능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BD6EB-4D33-922B-CF64-7FBB1684D5F4}"/>
              </a:ext>
            </a:extLst>
          </p:cNvPr>
          <p:cNvSpPr txBox="1"/>
          <p:nvPr/>
        </p:nvSpPr>
        <p:spPr>
          <a:xfrm>
            <a:off x="6281182" y="679815"/>
            <a:ext cx="333446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전체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59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60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jobs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 생성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조회 속도 고려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15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AA7EE2-EF96-88AA-B7FB-8AF99A5C7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4" y="1640700"/>
            <a:ext cx="2848704" cy="47695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EECB9B1-C9A1-51F9-0B45-40F39B562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90" y="1839557"/>
            <a:ext cx="2927692" cy="45491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7B235F9-6E46-2672-D38B-ECBD76EAE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127" y="1847175"/>
            <a:ext cx="3231524" cy="45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4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BCE8-F5C9-AE40-A9A0-39071F18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F78B01-7A80-0282-E507-9C4AF392B416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2EA56-3899-680D-E2A6-D87EE2153F90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상세 보기 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48E02-200D-18C8-FD0C-69ADAD1A674D}"/>
              </a:ext>
            </a:extLst>
          </p:cNvPr>
          <p:cNvSpPr txBox="1"/>
          <p:nvPr/>
        </p:nvSpPr>
        <p:spPr>
          <a:xfrm>
            <a:off x="3352797" y="688998"/>
            <a:ext cx="337073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원본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원본 채용공고 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원본 채용공고 페이지로 연결됨 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C63B7A-6DB2-C8CC-9E58-A0D204492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3" y="1119742"/>
            <a:ext cx="3052410" cy="52487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D87629-F8E0-6AC4-5F28-ED8A5EFCB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798" y="1620216"/>
            <a:ext cx="2810127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1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B042-EF64-9DE0-8EEF-F9A60780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906AC-071A-AF24-4261-D422AEC3B0BB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23189-6117-98C5-CE5B-67E16E2939D3}"/>
              </a:ext>
            </a:extLst>
          </p:cNvPr>
          <p:cNvSpPr txBox="1"/>
          <p:nvPr/>
        </p:nvSpPr>
        <p:spPr>
          <a:xfrm>
            <a:off x="315936" y="661873"/>
            <a:ext cx="9590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8-1. 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 추천 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사용자 이력서와 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DB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저장된 채용공고 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건을 참고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하여 맞춤형 채용공고 추천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</a:t>
            </a:r>
            <a:r>
              <a:rPr lang="ko-KR" altLang="en-US" sz="14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새로고침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버튼 </a:t>
            </a:r>
            <a:r>
              <a:rPr lang="ko-KR" altLang="en-US" sz="14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새롭게 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채용공고를 </a:t>
            </a:r>
            <a:r>
              <a:rPr lang="ko-KR" altLang="en-US" sz="14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추천받아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보여줌 </a:t>
            </a: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C3C1A0-0C71-C64B-364D-50987CA3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7" y="1303867"/>
            <a:ext cx="5303277" cy="525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77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54E1-9EB1-7FA0-86CB-93A43075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079A27-F264-B148-20E1-9C733742286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BAD1E-8B1E-121B-6BE7-6096119CC5F2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2. AI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 채용공고 추천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LOG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8DAB0-D8C9-515E-9670-369ABE83F2D1}"/>
              </a:ext>
            </a:extLst>
          </p:cNvPr>
          <p:cNvSpPr txBox="1"/>
          <p:nvPr/>
        </p:nvSpPr>
        <p:spPr>
          <a:xfrm>
            <a:off x="315936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dirty="0"/>
              <a:t>[MAIN-RECS] DB</a:t>
            </a:r>
            <a:r>
              <a:rPr lang="ko-KR" altLang="en-US" sz="1200" dirty="0"/>
              <a:t>에서 채용공고 조회 중</a:t>
            </a:r>
            <a:r>
              <a:rPr lang="en-US" altLang="ko-KR" sz="1200" dirty="0"/>
              <a:t>...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[MAIN-RECS] DB</a:t>
            </a:r>
            <a:r>
              <a:rPr lang="ko-KR" altLang="en-US" sz="1200" b="1" dirty="0">
                <a:solidFill>
                  <a:srgbClr val="0000FF"/>
                </a:solidFill>
              </a:rPr>
              <a:t>에서 </a:t>
            </a:r>
            <a:r>
              <a:rPr lang="en-US" altLang="ko-KR" sz="1200" b="1" dirty="0">
                <a:solidFill>
                  <a:srgbClr val="0000FF"/>
                </a:solidFill>
              </a:rPr>
              <a:t>100</a:t>
            </a:r>
            <a:r>
              <a:rPr lang="ko-KR" altLang="en-US" sz="1200" b="1" dirty="0">
                <a:solidFill>
                  <a:srgbClr val="0000FF"/>
                </a:solidFill>
              </a:rPr>
              <a:t>개 공고 가져옴 </a:t>
            </a:r>
            <a:r>
              <a:rPr lang="en-US" altLang="ko-KR" sz="1200" b="1" dirty="0">
                <a:solidFill>
                  <a:srgbClr val="0000FF"/>
                </a:solidFill>
              </a:rPr>
              <a:t>(IT/</a:t>
            </a:r>
            <a:r>
              <a:rPr lang="ko-KR" altLang="en-US" sz="1200" b="1" dirty="0">
                <a:solidFill>
                  <a:srgbClr val="0000FF"/>
                </a:solidFill>
              </a:rPr>
              <a:t>빅데이터</a:t>
            </a:r>
            <a:r>
              <a:rPr lang="en-US" altLang="ko-KR" sz="1200" b="1" dirty="0">
                <a:solidFill>
                  <a:srgbClr val="0000FF"/>
                </a:solidFill>
              </a:rPr>
              <a:t>AI)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[MAIN-RECS] GPT-5-mini </a:t>
            </a:r>
            <a:r>
              <a:rPr lang="ko-KR" altLang="en-US" sz="1200" b="1" dirty="0">
                <a:solidFill>
                  <a:srgbClr val="0000FF"/>
                </a:solidFill>
              </a:rPr>
              <a:t>기반 추천 시작</a:t>
            </a:r>
            <a:endParaRPr lang="en-US" altLang="ko-KR" sz="1200" b="1" dirty="0">
              <a:solidFill>
                <a:srgbClr val="0000FF"/>
              </a:solidFill>
            </a:endParaRPr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b="1" dirty="0">
                <a:solidFill>
                  <a:srgbClr val="FF0000"/>
                </a:solidFill>
              </a:rPr>
              <a:t>[AI</a:t>
            </a:r>
            <a:r>
              <a:rPr lang="ko-KR" altLang="en-US" sz="1200" b="1" dirty="0">
                <a:solidFill>
                  <a:srgbClr val="FF0000"/>
                </a:solidFill>
              </a:rPr>
              <a:t>추천</a:t>
            </a:r>
            <a:r>
              <a:rPr lang="en-US" altLang="ko-KR" sz="1200" b="1" dirty="0">
                <a:solidFill>
                  <a:srgbClr val="FF0000"/>
                </a:solidFill>
              </a:rPr>
              <a:t>] GPT-5-mini Prompt:</a:t>
            </a:r>
          </a:p>
          <a:p>
            <a:pPr fontAlgn="t" latinLnBrk="1"/>
            <a:r>
              <a:rPr lang="ko-KR" altLang="en-US" sz="1200" b="1" dirty="0">
                <a:solidFill>
                  <a:srgbClr val="0000FF"/>
                </a:solidFill>
              </a:rPr>
              <a:t>당신은 전문 채용 컨설턴트입니다</a:t>
            </a:r>
            <a:r>
              <a:rPr lang="en-US" altLang="ko-KR" sz="1200" b="1" dirty="0">
                <a:solidFill>
                  <a:srgbClr val="0000FF"/>
                </a:solidFill>
              </a:rPr>
              <a:t>. </a:t>
            </a:r>
            <a:r>
              <a:rPr lang="ko-KR" altLang="en-US" sz="1200" b="1" dirty="0">
                <a:solidFill>
                  <a:srgbClr val="0000FF"/>
                </a:solidFill>
              </a:rPr>
              <a:t>다음 사용자 프로필</a:t>
            </a:r>
            <a:r>
              <a:rPr lang="en-US" altLang="ko-KR" sz="1200" b="1" dirty="0">
                <a:solidFill>
                  <a:srgbClr val="0000FF"/>
                </a:solidFill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</a:rPr>
              <a:t>채용공고 </a:t>
            </a:r>
            <a:r>
              <a:rPr lang="en-US" altLang="ko-KR" sz="1200" b="1" dirty="0">
                <a:solidFill>
                  <a:srgbClr val="0000FF"/>
                </a:solidFill>
              </a:rPr>
              <a:t>100</a:t>
            </a:r>
            <a:r>
              <a:rPr lang="ko-KR" altLang="en-US" sz="1200" b="1" dirty="0">
                <a:solidFill>
                  <a:srgbClr val="0000FF"/>
                </a:solidFill>
              </a:rPr>
              <a:t>건을 바탕으로 채용공고 </a:t>
            </a:r>
            <a:r>
              <a:rPr lang="en-US" altLang="ko-KR" sz="1200" b="1" dirty="0">
                <a:solidFill>
                  <a:srgbClr val="0000FF"/>
                </a:solidFill>
              </a:rPr>
              <a:t>6</a:t>
            </a:r>
            <a:r>
              <a:rPr lang="ko-KR" altLang="en-US" sz="1200" b="1" dirty="0">
                <a:solidFill>
                  <a:srgbClr val="0000FF"/>
                </a:solidFill>
              </a:rPr>
              <a:t>개를 추천해주세요</a:t>
            </a:r>
            <a:r>
              <a:rPr lang="en-US" altLang="ko-KR" sz="1200" b="1" dirty="0">
                <a:solidFill>
                  <a:srgbClr val="0000FF"/>
                </a:solidFill>
              </a:rPr>
              <a:t>.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**</a:t>
            </a:r>
            <a:r>
              <a:rPr lang="ko-KR" altLang="en-US" sz="1200" b="1" dirty="0">
                <a:solidFill>
                  <a:srgbClr val="0000FF"/>
                </a:solidFill>
              </a:rPr>
              <a:t>사용자 프로필</a:t>
            </a:r>
            <a:r>
              <a:rPr lang="en-US" altLang="ko-KR" sz="1200" b="1" dirty="0">
                <a:solidFill>
                  <a:srgbClr val="0000FF"/>
                </a:solidFill>
              </a:rPr>
              <a:t>:**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기술 스킬</a:t>
            </a:r>
            <a:r>
              <a:rPr lang="en-US" altLang="ko-KR" sz="1200" dirty="0"/>
              <a:t>: Java, Spring, MySQL, Node.js, AWS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경력</a:t>
            </a:r>
            <a:r>
              <a:rPr lang="en-US" altLang="ko-KR" sz="1200" dirty="0"/>
              <a:t>: </a:t>
            </a:r>
            <a:r>
              <a:rPr lang="ko-KR" altLang="en-US" sz="1200" dirty="0"/>
              <a:t>신입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선호 지역</a:t>
            </a:r>
            <a:r>
              <a:rPr lang="en-US" altLang="ko-KR" sz="1200" dirty="0"/>
              <a:t>: </a:t>
            </a:r>
            <a:r>
              <a:rPr lang="ko-KR" altLang="en-US" sz="1200" dirty="0"/>
              <a:t>서울</a:t>
            </a:r>
            <a:r>
              <a:rPr lang="en-US" altLang="ko-KR" sz="1200" dirty="0"/>
              <a:t>, </a:t>
            </a:r>
            <a:r>
              <a:rPr lang="ko-KR" altLang="en-US" sz="1200" dirty="0"/>
              <a:t>경기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희망 직무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백엔드</a:t>
            </a:r>
            <a:r>
              <a:rPr lang="ko-KR" altLang="en-US" sz="1200" dirty="0"/>
              <a:t> 개발자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급여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회사내규에</a:t>
            </a:r>
            <a:r>
              <a:rPr lang="ko-KR" altLang="en-US" sz="1200" dirty="0"/>
              <a:t> 따름</a:t>
            </a:r>
          </a:p>
          <a:p>
            <a:pPr fontAlgn="t" latinLnBrk="1"/>
            <a:r>
              <a:rPr lang="en-US" altLang="ko-KR" sz="1200" dirty="0"/>
              <a:t>- </a:t>
            </a:r>
            <a:r>
              <a:rPr lang="ko-KR" altLang="en-US" sz="1200" dirty="0"/>
              <a:t>희망 연봉</a:t>
            </a:r>
            <a:r>
              <a:rPr lang="en-US" altLang="ko-KR" sz="1200" dirty="0"/>
              <a:t>: 3000.00</a:t>
            </a:r>
            <a:r>
              <a:rPr lang="ko-KR" altLang="en-US" sz="1200" dirty="0"/>
              <a:t>만원</a:t>
            </a:r>
          </a:p>
          <a:p>
            <a:pPr fontAlgn="t" latinLnBrk="1"/>
            <a:r>
              <a:rPr lang="en-US" altLang="ko-KR" sz="1200" dirty="0"/>
              <a:t>- Job ID: 64</a:t>
            </a:r>
          </a:p>
          <a:p>
            <a:pPr fontAlgn="t" latinLnBrk="1"/>
            <a:endParaRPr lang="en-US" altLang="ko-KR" sz="1200" dirty="0"/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**</a:t>
            </a:r>
            <a:r>
              <a:rPr lang="ko-KR" altLang="en-US" sz="1200" b="1" dirty="0">
                <a:solidFill>
                  <a:srgbClr val="0000FF"/>
                </a:solidFill>
              </a:rPr>
              <a:t>채용공고 목록</a:t>
            </a:r>
            <a:r>
              <a:rPr lang="en-US" altLang="ko-KR" sz="1200" b="1" dirty="0">
                <a:solidFill>
                  <a:srgbClr val="0000FF"/>
                </a:solidFill>
              </a:rPr>
              <a:t>:   100</a:t>
            </a:r>
            <a:r>
              <a:rPr lang="ko-KR" altLang="en-US" sz="1200" b="1" dirty="0">
                <a:solidFill>
                  <a:srgbClr val="0000FF"/>
                </a:solidFill>
              </a:rPr>
              <a:t>개</a:t>
            </a:r>
            <a:r>
              <a:rPr lang="en-US" altLang="ko-KR" sz="1200" b="1" dirty="0">
                <a:solidFill>
                  <a:srgbClr val="0000FF"/>
                </a:solidFill>
              </a:rPr>
              <a:t>   **</a:t>
            </a:r>
          </a:p>
          <a:p>
            <a:pPr fontAlgn="t" latinLnBrk="1"/>
            <a:r>
              <a:rPr lang="en-US" altLang="ko-KR" sz="1200" dirty="0"/>
              <a:t>1. </a:t>
            </a:r>
            <a:r>
              <a:rPr lang="ko-KR" altLang="en-US" sz="1200" dirty="0"/>
              <a:t>데이터 분석 플랫폼 개발 및 운영</a:t>
            </a:r>
            <a:r>
              <a:rPr lang="en-US" altLang="ko-KR" sz="1200" dirty="0"/>
              <a:t>(Data Engineer) </a:t>
            </a:r>
            <a:r>
              <a:rPr lang="ko-KR" altLang="en-US" sz="1200" dirty="0"/>
              <a:t>채용 </a:t>
            </a:r>
            <a:r>
              <a:rPr lang="en-US" altLang="ko-KR" sz="1200" dirty="0"/>
              <a:t>at CJ</a:t>
            </a:r>
            <a:r>
              <a:rPr lang="ko-KR" altLang="en-US" sz="1200" dirty="0" err="1"/>
              <a:t>올리브네트웍스</a:t>
            </a:r>
            <a:endParaRPr lang="ko-KR" altLang="en-US" sz="1200" dirty="0"/>
          </a:p>
          <a:p>
            <a:pPr fontAlgn="t" latinLnBrk="1"/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요구 기술</a:t>
            </a:r>
            <a:r>
              <a:rPr lang="en-US" altLang="ko-KR" sz="1200" dirty="0"/>
              <a:t>: </a:t>
            </a:r>
            <a:r>
              <a:rPr lang="ko-KR" altLang="en-US" sz="1200" dirty="0"/>
              <a:t>네트워크</a:t>
            </a:r>
            <a:r>
              <a:rPr lang="en-US" altLang="ko-KR" sz="1200" dirty="0"/>
              <a:t>/</a:t>
            </a:r>
            <a:r>
              <a:rPr lang="ko-KR" altLang="en-US" sz="1200" dirty="0"/>
              <a:t>서버</a:t>
            </a:r>
            <a:r>
              <a:rPr lang="en-US" altLang="ko-KR" sz="1200" dirty="0"/>
              <a:t>/</a:t>
            </a:r>
            <a:r>
              <a:rPr lang="ko-KR" altLang="en-US" sz="1200" dirty="0"/>
              <a:t>보안</a:t>
            </a:r>
            <a:r>
              <a:rPr lang="en-US" altLang="ko-KR" sz="1200" dirty="0"/>
              <a:t>, </a:t>
            </a:r>
            <a:r>
              <a:rPr lang="ko-KR" altLang="en-US" sz="1200" dirty="0"/>
              <a:t>빅데이터</a:t>
            </a:r>
            <a:r>
              <a:rPr lang="en-US" altLang="ko-KR" sz="1200" dirty="0"/>
              <a:t>/AI, </a:t>
            </a:r>
            <a:r>
              <a:rPr lang="ko-KR" altLang="en-US" sz="1200" dirty="0"/>
              <a:t>응용프로그램개발 외</a:t>
            </a:r>
          </a:p>
          <a:p>
            <a:pPr fontAlgn="t" latinLnBrk="1"/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경력 요건</a:t>
            </a:r>
            <a:r>
              <a:rPr lang="en-US" altLang="ko-KR" sz="1200" dirty="0"/>
              <a:t>: </a:t>
            </a:r>
            <a:r>
              <a:rPr lang="ko-KR" altLang="en-US" sz="1200" dirty="0"/>
              <a:t>경력</a:t>
            </a:r>
            <a:r>
              <a:rPr lang="en-US" altLang="ko-KR" sz="1200" dirty="0"/>
              <a:t>3</a:t>
            </a:r>
            <a:r>
              <a:rPr lang="ko-KR" altLang="en-US" sz="1200" dirty="0"/>
              <a:t>년↑</a:t>
            </a:r>
            <a:endParaRPr lang="en-US" altLang="ko-KR" sz="1200" dirty="0"/>
          </a:p>
          <a:p>
            <a:pPr fontAlgn="t" latinLnBrk="1"/>
            <a:r>
              <a:rPr lang="en-US" altLang="ko-KR" sz="1200" dirty="0"/>
              <a:t>(</a:t>
            </a:r>
            <a:r>
              <a:rPr lang="ko-KR" altLang="en-US" sz="1200" dirty="0"/>
              <a:t>후략</a:t>
            </a:r>
            <a:r>
              <a:rPr lang="en-US" altLang="ko-KR" sz="1200" dirty="0"/>
              <a:t>)</a:t>
            </a:r>
          </a:p>
          <a:p>
            <a:pPr fontAlgn="t" latinLnBrk="1"/>
            <a:r>
              <a:rPr lang="ko-KR" altLang="en-US" sz="1200" dirty="0"/>
              <a:t>각 공고에 대해 </a:t>
            </a:r>
            <a:r>
              <a:rPr lang="ko-KR" altLang="en-US" sz="1200" dirty="0" err="1"/>
              <a:t>매칭도를</a:t>
            </a:r>
            <a:r>
              <a:rPr lang="ko-KR" altLang="en-US" sz="1200" dirty="0"/>
              <a:t> 분석하고</a:t>
            </a:r>
            <a:r>
              <a:rPr lang="en-US" altLang="ko-KR" sz="1200" dirty="0"/>
              <a:t>, </a:t>
            </a:r>
            <a:r>
              <a:rPr lang="ko-KR" altLang="en-US" sz="1200" dirty="0"/>
              <a:t>상위 </a:t>
            </a:r>
            <a:r>
              <a:rPr lang="en-US" altLang="ko-KR" sz="1200" dirty="0"/>
              <a:t>6</a:t>
            </a:r>
            <a:r>
              <a:rPr lang="ko-KR" altLang="en-US" sz="1200" dirty="0"/>
              <a:t>개를 추천해주세요</a:t>
            </a:r>
            <a:r>
              <a:rPr lang="en-US" altLang="ko-KR" sz="1200" dirty="0"/>
              <a:t>.</a:t>
            </a:r>
          </a:p>
          <a:p>
            <a:pPr fontAlgn="t" latinLnBrk="1"/>
            <a:r>
              <a:rPr lang="ko-KR" altLang="en-US" sz="1200" dirty="0"/>
              <a:t>분석 기준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기술매칭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경력매칭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지역매칭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직무매칭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급여매칭</a:t>
            </a:r>
            <a:endParaRPr lang="en-US" altLang="ko-KR" sz="1200" dirty="0"/>
          </a:p>
          <a:p>
            <a:pPr fontAlgn="t" latinLnBrk="1"/>
            <a:r>
              <a:rPr lang="ko-KR" altLang="en-US" sz="1200" dirty="0"/>
              <a:t>응답은 반드시 다음 </a:t>
            </a:r>
            <a:r>
              <a:rPr lang="en-US" altLang="ko-KR" sz="1200" dirty="0"/>
              <a:t>JSON </a:t>
            </a:r>
            <a:r>
              <a:rPr lang="ko-KR" altLang="en-US" sz="1200" dirty="0"/>
              <a:t>형식으로 해주세요 </a:t>
            </a:r>
            <a:r>
              <a:rPr lang="en-US" altLang="ko-KR" sz="1200" dirty="0"/>
              <a:t>(JSON object with recommendations array):</a:t>
            </a:r>
          </a:p>
          <a:p>
            <a:pPr fontAlgn="t" latinLnBrk="1"/>
            <a:endParaRPr lang="en-US" altLang="ko-KR" sz="1200" b="1" dirty="0">
              <a:solidFill>
                <a:srgbClr val="0000FF"/>
              </a:solidFill>
            </a:endParaRP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[GPT-5] </a:t>
            </a:r>
            <a:r>
              <a:rPr lang="ko-KR" altLang="en-US" sz="1200" b="1" dirty="0">
                <a:solidFill>
                  <a:srgbClr val="0000FF"/>
                </a:solidFill>
              </a:rPr>
              <a:t>파싱 성공</a:t>
            </a:r>
            <a:r>
              <a:rPr lang="en-US" altLang="ko-KR" sz="1200" b="1" dirty="0">
                <a:solidFill>
                  <a:srgbClr val="0000FF"/>
                </a:solidFill>
              </a:rPr>
              <a:t>: 6</a:t>
            </a:r>
            <a:r>
              <a:rPr lang="ko-KR" altLang="en-US" sz="1200" b="1" dirty="0">
                <a:solidFill>
                  <a:srgbClr val="0000FF"/>
                </a:solidFill>
              </a:rPr>
              <a:t>개 추천</a:t>
            </a:r>
          </a:p>
          <a:p>
            <a:pPr fontAlgn="t" latinLnBrk="1"/>
            <a:r>
              <a:rPr lang="en-US" altLang="ko-KR" sz="1200" b="1" dirty="0">
                <a:solidFill>
                  <a:srgbClr val="0000FF"/>
                </a:solidFill>
              </a:rPr>
              <a:t>[MAIN-RECS] ✅ GPT-5-mini</a:t>
            </a:r>
            <a:r>
              <a:rPr lang="ko-KR" altLang="en-US" sz="1200" b="1" dirty="0">
                <a:solidFill>
                  <a:srgbClr val="0000FF"/>
                </a:solidFill>
              </a:rPr>
              <a:t>로 </a:t>
            </a:r>
            <a:r>
              <a:rPr lang="en-US" altLang="ko-KR" sz="1200" b="1" dirty="0">
                <a:solidFill>
                  <a:srgbClr val="0000FF"/>
                </a:solidFill>
              </a:rPr>
              <a:t>6</a:t>
            </a:r>
            <a:r>
              <a:rPr lang="ko-KR" altLang="en-US" sz="1200" b="1" dirty="0">
                <a:solidFill>
                  <a:srgbClr val="0000FF"/>
                </a:solidFill>
              </a:rPr>
              <a:t>개 공고 추천 완료</a:t>
            </a:r>
          </a:p>
          <a:p>
            <a:pPr fontAlgn="t" latinLnBrk="1"/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514478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858A-B277-7B49-D81D-8B5F933C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78A82-A463-3995-17ED-8B58B94C7727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A837E-01E9-A915-1056-2329C856971B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</a:t>
            </a:r>
            <a:endParaRPr lang="ko-KR" altLang="en-US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8EBBBB-F5F3-C8E1-0F57-F1E5E943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985038"/>
            <a:ext cx="5119334" cy="55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77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7FEF-1CEE-58C5-0BFE-66AB4D06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6D1A9-C3FF-2B05-21BB-015BA4EE97E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5C11E7-E9F7-6C22-87CD-7F7D26ED6E07}"/>
              </a:ext>
            </a:extLst>
          </p:cNvPr>
          <p:cNvSpPr txBox="1"/>
          <p:nvPr/>
        </p:nvSpPr>
        <p:spPr>
          <a:xfrm>
            <a:off x="315936" y="661873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3. AI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LOG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3DD96-11A1-B660-405A-B79B5DD0573D}"/>
              </a:ext>
            </a:extLst>
          </p:cNvPr>
          <p:cNvSpPr txBox="1"/>
          <p:nvPr/>
        </p:nvSpPr>
        <p:spPr>
          <a:xfrm>
            <a:off x="315936" y="1122612"/>
            <a:ext cx="9274128" cy="522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✅ Catch Scraper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초기화 완료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✅ Catch.co.kr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로그인 성공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 면접 후기 기출질문 수집 중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)...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 [INTERVIEW-QUESTIONS] Custom company: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네이버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✅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 정보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(DB </a:t>
            </a:r>
            <a:r>
              <a:rPr lang="en-US" altLang="ko-KR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user_profiles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 [ [INTERVIEW-QUESTIONS]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🤖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GPT-5-mini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직접 호출 시작</a:t>
            </a:r>
            <a:endParaRPr lang="en-US" altLang="ko-KR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t" latinLnBrk="1"/>
            <a:endParaRPr lang="ko-KR" alt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[INTERVIEW-QUESTIONS]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📝 </a:t>
            </a:r>
            <a:r>
              <a:rPr lang="en-US" altLang="ko-KR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GPT-5-mini </a:t>
            </a:r>
            <a:r>
              <a:rPr lang="ko-KR" altLang="en-US" sz="12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프롬프트 생성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당신은 전문 면접관입니다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www.catch.co.kr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수집한 네이버의 실제 면접질문과 사용자 프로필을 바탕으로 맞춤형 면접 질문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개를 생성해주세요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t" latinLnBrk="1"/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**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회사**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**사용자 프로필**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스킬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Java, Spring, MySQL, Node.js, AWS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경력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신입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희망 직무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백엔드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개발자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**네이버의 실제 면접 기출질문**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(www.catch.co.kr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수집한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):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자사 서비스 개선점은 뭐가 있고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어쩧게 개선할 수 있나요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웹개발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비용 통제를 위해 인프라 최적화해본 경험이 있나요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웹개발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 --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장애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발생시어떻게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대처하실 건가요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웹개발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직무를 하는데 가장 중요한 요소가 뭐라고 생각하나요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기획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전략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당장 이 업무를 시킨다면 어떤 방식을 통해서 해결할 것인지 접근 방법을 알려주세요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기획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전략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업계 트렌드 중 주목하고 있는 것은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기획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전략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7.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신규 서비스에 대한 본인 생각과 부족하다면 개선점을 말해주세요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콘텐츠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사이트운영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자사 서비스를 사용해본 경험과 평소에 개선이 필요하다고 생각했던 점을 말해주세요 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콘텐츠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사이트운영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9.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과제의 아이디어를 생각해낸 과정과 이 아이디어가 정말 효과적으로 고객을 유인할 것 </a:t>
            </a:r>
            <a:r>
              <a:rPr lang="ko-KR" altLang="en-US" sz="1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같은지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콘텐츠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사이트운영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t" latinLnBrk="1"/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10. 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코드는 어떻게 개선할 수 있을까요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(</a:t>
            </a:r>
            <a:r>
              <a:rPr lang="ko-KR" altLang="en-US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</a:t>
            </a:r>
            <a:r>
              <a:rPr lang="en-US" altLang="ko-KR" sz="1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/AI)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위 실제 기출질문들을 참고하여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해당 기업의 면접 스타일과 중요시하는 가치를 반영한 새로운 면접 질문 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개를 생성해주세요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t" latinLnBrk="1"/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기출질문과 유사하지만 더 깊이 있고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 프로필에 </a:t>
            </a:r>
            <a:r>
              <a:rPr lang="ko-KR" altLang="en-US" sz="1200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맞춤화된</a:t>
            </a:r>
            <a:r>
              <a:rPr lang="ko-KR" altLang="en-US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질문을 만들어주세요</a:t>
            </a:r>
            <a:r>
              <a:rPr lang="en-US" altLang="ko-KR" sz="1200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899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3EFF-68F7-00C3-AEC8-AA299619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CF17E-C2A7-59A8-5CC4-48642DB8C8A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및 로그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32AC0-74FE-75D4-EB2B-1FB764C624A9}"/>
              </a:ext>
            </a:extLst>
          </p:cNvPr>
          <p:cNvSpPr txBox="1"/>
          <p:nvPr/>
        </p:nvSpPr>
        <p:spPr>
          <a:xfrm>
            <a:off x="315936" y="661873"/>
            <a:ext cx="44560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catch.co.kr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 기출질문</a:t>
            </a:r>
            <a:endParaRPr lang="ko-KR" alt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E9AB11-5CAD-5233-3979-E1BB4DD1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985039"/>
            <a:ext cx="7612697" cy="550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3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1296</TotalTime>
  <Words>2705</Words>
  <Application>Microsoft Office PowerPoint</Application>
  <PresentationFormat>A4 용지(210x297mm)</PresentationFormat>
  <Paragraphs>326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72</cp:revision>
  <dcterms:created xsi:type="dcterms:W3CDTF">2025-10-08T14:40:45Z</dcterms:created>
  <dcterms:modified xsi:type="dcterms:W3CDTF">2025-10-09T12:18:27Z</dcterms:modified>
</cp:coreProperties>
</file>