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70" r:id="rId9"/>
    <p:sldId id="271" r:id="rId10"/>
    <p:sldId id="260" r:id="rId11"/>
    <p:sldId id="261" r:id="rId12"/>
    <p:sldId id="262" r:id="rId13"/>
    <p:sldId id="263" r:id="rId14"/>
    <p:sldId id="264" r:id="rId15"/>
    <p:sldId id="265" r:id="rId16"/>
  </p:sldIdLst>
  <p:sldSz cx="9906000" cy="6858000" type="A4"/>
  <p:notesSz cx="8229600" cy="14630400"/>
  <p:embeddedFontLst>
    <p:embeddedFont>
      <p:font typeface="한컴 고딕" panose="02000500000000000000" pitchFamily="2" charset="-127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78" y="318"/>
      </p:cViewPr>
      <p:guideLst>
        <p:guide orient="horz" pos="2160"/>
        <p:guide pos="3120"/>
        <p:guide pos="2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353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39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1pPr>
    <a:lvl2pPr marL="399136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2pPr>
    <a:lvl3pPr marL="798271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3pPr>
    <a:lvl4pPr marL="1197407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4pPr>
    <a:lvl5pPr marL="1596542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5pPr>
    <a:lvl6pPr marL="1995678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6pPr>
    <a:lvl7pPr marL="2394814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7pPr>
    <a:lvl8pPr marL="2793949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8pPr>
    <a:lvl9pPr marL="3193085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D79A-AF64-8C3E-04D1-6F6D907D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5BF45-26E1-8F67-8E2E-D1423482D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2F811-A086-3549-1DCA-BC238AB99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940CA-419F-08FB-04DB-A5D432F50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67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08E0-C800-BB19-1116-2D66F956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FAE68-3AA1-48C0-E6DA-60D322D85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98C4C-4740-F0B4-5DAF-A2F09D8C9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30AD0-75FA-FF2F-92B9-A45348CE3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92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2471-7814-CFAE-5514-51984239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C9827-CAC2-5EC0-372D-3C3C52693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67D40-61FB-2EB7-C3E8-54231E8C4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AFB08-C4EC-864E-501D-F77103A97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6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8C8F-F5E3-D958-41D9-9C576140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F8D89-FC91-E4E0-EEBF-F9937488D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1B41F-B53C-47FF-7AB3-F4DE5B0B0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07F16-8B55-F34F-F4A9-BCC037BFA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34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5C9A-2F2C-171F-099C-65BA66D3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D37F3-1DD1-793D-69EF-DD291A488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4FE60-34B2-4C56-DB76-5A180EB0F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092B7-A33C-E0BE-2F69-ACB53DBCA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63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31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5414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223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4999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007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98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303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1098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047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072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807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828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2BD19C-ED61-0B49-BA99-47F392C8E13E}"/>
              </a:ext>
            </a:extLst>
          </p:cNvPr>
          <p:cNvCxnSpPr>
            <a:cxnSpLocks/>
          </p:cNvCxnSpPr>
          <p:nvPr userDrawn="1"/>
        </p:nvCxnSpPr>
        <p:spPr>
          <a:xfrm>
            <a:off x="197672" y="486578"/>
            <a:ext cx="951065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0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839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782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67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9593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534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442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5725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6119" y="2438475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69"/>
              </a:lnSpc>
            </a:pPr>
            <a:r>
              <a:rPr lang="en-US" sz="556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CommitJob</a:t>
            </a:r>
            <a:endParaRPr lang="en-US" sz="556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20" y="3537124"/>
            <a:ext cx="39504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기반 맞춤형 취업 플랫폼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06119" y="419271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GPT-5-mini를 활용한 채용공고 추천 및 면접 준비 지원 서비스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72408E7-59FA-0DC7-1355-D93456BCDA38}"/>
              </a:ext>
            </a:extLst>
          </p:cNvPr>
          <p:cNvSpPr/>
          <p:nvPr/>
        </p:nvSpPr>
        <p:spPr>
          <a:xfrm>
            <a:off x="7898405" y="5414042"/>
            <a:ext cx="17156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작성자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차민희</a:t>
            </a:r>
            <a:endParaRPr lang="en-US" altLang="ko-KR" sz="1094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작성일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2025.10.08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0" y="728291"/>
            <a:ext cx="2981028" cy="37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7"/>
              </a:lnSpc>
            </a:pPr>
            <a:r>
              <a:rPr lang="en-US" sz="1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</a:t>
            </a:r>
            <a:r>
              <a:rPr lang="en-US" sz="1907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프로젝트</a:t>
            </a:r>
            <a:r>
              <a:rPr lang="en-US" sz="1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핵심 가치</a:t>
            </a:r>
            <a:endParaRPr lang="en-US" sz="1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93515" y="1425453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2727" y="1544665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02" y="1622874"/>
            <a:ext cx="160958" cy="201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727" y="2021585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GPT-5-mini AI 추천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612727" y="2279356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기반 맞춤형 채용공고 자동 매칭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308700" y="1425453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27912" y="1544665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287" y="1622874"/>
            <a:ext cx="160958" cy="201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7911" y="2021585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준비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427911" y="2279356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리뷰 20건 </a:t>
            </a:r>
            <a:r>
              <a:rPr lang="ko-KR" alt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endParaRPr lang="en-US" sz="16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DB </a:t>
            </a:r>
            <a:r>
              <a:rPr lang="ko-KR" alt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</a:t>
            </a: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활용한 맞춤형 질문 생성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93515" y="3770947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12727" y="3890159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02" y="3968369"/>
            <a:ext cx="160958" cy="2012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727" y="4367079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간편 로그인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12727" y="4624849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소셜 로그인으로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빠른</a:t>
            </a: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시작</a:t>
            </a:r>
            <a:endParaRPr lang="en-US" sz="16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308700" y="3770947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427912" y="3890159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6287" y="3968369"/>
            <a:ext cx="160958" cy="2012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27911" y="4367079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최적화된 성능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427911" y="4624849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 캐싱으로 빠른 응답 속도 제공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747442-9186-FA17-8DF2-1CE541ADE690}"/>
              </a:ext>
            </a:extLst>
          </p:cNvPr>
          <p:cNvSpPr txBox="1"/>
          <p:nvPr/>
        </p:nvSpPr>
        <p:spPr>
          <a:xfrm>
            <a:off x="277698" y="95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0024" y="671378"/>
            <a:ext cx="3473425" cy="43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7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</a:t>
            </a:r>
            <a:r>
              <a:rPr 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기술</a:t>
            </a: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스택 아키텍처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518879" y="1280489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프론트엔드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518879" y="1679944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프레임워크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React 19.2.0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라우팅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React Router DOM 7.9.3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빌드 도구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Vite 7.1.9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HTTP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클라이언트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Axios 1.12.2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스타일링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CSS3 </a:t>
            </a:r>
          </a:p>
          <a:p>
            <a:pPr>
              <a:lnSpc>
                <a:spcPts val="1750"/>
              </a:lnSpc>
              <a:buSzPct val="100000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(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인라인 스타일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+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디자인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Vercel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40589" y="1280489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40589" y="1658776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런타임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Node.js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프레임워크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Express 5.1.0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MySQL 2 (AWS RDS)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인증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JWT (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jose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6.1.0)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Kakao OAuth 2.0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연동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OpenAI API 6.2.0 (GPT-5-mini)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웹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Cheerio 1.1.2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파일 업로드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Multer 2.0.2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문서화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Swagger </a:t>
            </a:r>
          </a:p>
          <a:p>
            <a:pPr>
              <a:lnSpc>
                <a:spcPts val="1750"/>
              </a:lnSpc>
              <a:buSzPct val="100000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(swagger-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jsdoc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swagger-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ui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-express)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Railway</a:t>
            </a:r>
          </a:p>
        </p:txBody>
      </p:sp>
      <p:sp>
        <p:nvSpPr>
          <p:cNvPr id="16" name="Text 13"/>
          <p:cNvSpPr/>
          <p:nvPr/>
        </p:nvSpPr>
        <p:spPr>
          <a:xfrm>
            <a:off x="518879" y="4042470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외부 서비스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18879" y="4441925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Python Flask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채용공고 수집 서비스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OpenAI GPT-5-mini: AI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추천 및 면접 질문 생성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 인증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BCB0BB-F90B-6866-3F50-EDA94B9D1298}"/>
              </a:ext>
            </a:extLst>
          </p:cNvPr>
          <p:cNvSpPr txBox="1"/>
          <p:nvPr/>
        </p:nvSpPr>
        <p:spPr>
          <a:xfrm>
            <a:off x="277698" y="95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527" y="60731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3. </a:t>
            </a:r>
            <a:r>
              <a:rPr 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주요</a:t>
            </a: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기능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1580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1580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1580" y="155389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카카오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소셜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로그인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및 사용자 관리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1580" y="186040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 2.0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세션 관리</a:t>
            </a:r>
          </a:p>
          <a:p>
            <a:pPr marL="178587" indent="-178587">
              <a:lnSpc>
                <a:spcPts val="1782"/>
              </a:lnSpc>
              <a:buFontTx/>
              <a:buChar char="-"/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관리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선호 지역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회원 탈퇴 기능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71643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71643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98020" y="471041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이력서 관리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98020" y="501692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 업로드 및 저장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사용자별 스킬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선호 직무 관리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프로필 정보 업데이트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1259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71259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71644" y="155389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채용정보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추천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71644" y="1860407"/>
            <a:ext cx="3185716" cy="127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추천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OpenAI GPT-5-mini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모델을 활용한 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 알고리즘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 점수 및 추천 이유 제공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세션 기반 추천 결과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0921" y="4365432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04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0921" y="4587334"/>
            <a:ext cx="4004965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71258" y="1551699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준비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89884" y="1810771"/>
            <a:ext cx="33637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및 포지션 기반 맞춤형 면접 질문 생성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Catch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20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건의 회사 리뷰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및 활용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DB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데이터 통합 활용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질문 난이도 및 카테고리 분류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GPT-5-mini fallback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로직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장애 대응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조건 이력 저장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98020" y="4365432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05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98020" y="4587334"/>
            <a:ext cx="4004965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0921" y="4741520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채용공고 검색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0921" y="504803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BIGDATA/AI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분야 채용공고 제공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Catch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플랫폼 기반 채용공고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카테고리별 채용공고 조회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(IT, BIGDATA_AI)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상세 정보 제공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7441A6-E750-BE5C-1BD7-E2DEB8919FB4}"/>
              </a:ext>
            </a:extLst>
          </p:cNvPr>
          <p:cNvSpPr txBox="1"/>
          <p:nvPr/>
        </p:nvSpPr>
        <p:spPr>
          <a:xfrm>
            <a:off x="225447" y="95341"/>
            <a:ext cx="7723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AE21-F273-2A60-923B-E1B073B6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4E772B-D07D-DEDD-39A8-BB10D8569E77}"/>
              </a:ext>
            </a:extLst>
          </p:cNvPr>
          <p:cNvSpPr/>
          <p:nvPr/>
        </p:nvSpPr>
        <p:spPr>
          <a:xfrm>
            <a:off x="328638" y="54007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</a:t>
            </a:r>
            <a:r>
              <a:rPr lang="ko-KR" alt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프런트엔드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구조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F2DACC-3A56-0A82-65EB-EC7B8A8F9760}"/>
              </a:ext>
            </a:extLst>
          </p:cNvPr>
          <p:cNvSpPr/>
          <p:nvPr/>
        </p:nvSpPr>
        <p:spPr>
          <a:xfrm>
            <a:off x="386400" y="1051311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769535-0A30-3AB3-D485-BE36B216A1EE}"/>
              </a:ext>
            </a:extLst>
          </p:cNvPr>
          <p:cNvSpPr/>
          <p:nvPr/>
        </p:nvSpPr>
        <p:spPr>
          <a:xfrm>
            <a:off x="386400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C5EF13-9316-E910-1370-36E144B3A358}"/>
              </a:ext>
            </a:extLst>
          </p:cNvPr>
          <p:cNvSpPr/>
          <p:nvPr/>
        </p:nvSpPr>
        <p:spPr>
          <a:xfrm>
            <a:off x="386399" y="1385704"/>
            <a:ext cx="4929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-login-app/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src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pages/  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페이지 컴포넌트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MainPage.jsx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메인 홈 페이지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미리보기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CallbackPage.jsx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콜백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AIRecommendationPage.jsx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# 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맞춤 추천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AIInterviewPage.jsx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# 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면접 질문 생성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목록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# BIGDATA/AI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ITJobsPage.jsx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# IT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JobDetailPage.jsx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상세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ResumePage.jsx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 관리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MenuPage.jsx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전체 메뉴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components/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재사용 컴포넌트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Header.jsx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상단 헤더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Navigation.jsx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하단 네비게이션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config.js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 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(API URL, Kakao Key)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App.jsx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라우팅 설정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main.jsx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앱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진입점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package.json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└── vite.config.js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2BD373-B80F-2F84-9B9B-0D92F578341B}"/>
              </a:ext>
            </a:extLst>
          </p:cNvPr>
          <p:cNvSpPr/>
          <p:nvPr/>
        </p:nvSpPr>
        <p:spPr>
          <a:xfrm>
            <a:off x="5633056" y="1051311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70FF7B1-084F-EAC3-1F47-7A3186DD110E}"/>
              </a:ext>
            </a:extLst>
          </p:cNvPr>
          <p:cNvSpPr/>
          <p:nvPr/>
        </p:nvSpPr>
        <p:spPr>
          <a:xfrm>
            <a:off x="5633056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9E10D14-F4F6-393A-1133-E73BF18C867A}"/>
              </a:ext>
            </a:extLst>
          </p:cNvPr>
          <p:cNvSpPr/>
          <p:nvPr/>
        </p:nvSpPr>
        <p:spPr>
          <a:xfrm>
            <a:off x="5591250" y="1398037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React Router DOM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SPA 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(Single Page Application)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환경별 자동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URL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(localhost/production)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localStorage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토큰 관리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통한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호출 최적화 및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반응형 디자인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모바일 우선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디자인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(backdrop-filter,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그라데이션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E2FBC9-A81D-FD2C-FD2F-C3C5AFBFE21A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177670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148C-49BE-9920-3499-E64334BC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51011D-4D08-04C3-6C0B-6E5873426C7B}"/>
              </a:ext>
            </a:extLst>
          </p:cNvPr>
          <p:cNvSpPr/>
          <p:nvPr/>
        </p:nvSpPr>
        <p:spPr>
          <a:xfrm>
            <a:off x="467989" y="70254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</a:t>
            </a:r>
            <a:r>
              <a:rPr lang="ko-KR" alt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구조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61582C-26FD-683B-DB03-18C215A41564}"/>
              </a:ext>
            </a:extLst>
          </p:cNvPr>
          <p:cNvSpPr/>
          <p:nvPr/>
        </p:nvSpPr>
        <p:spPr>
          <a:xfrm>
            <a:off x="482208" y="1582538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AB20DE-2B99-8461-581F-67DDF2E9579C}"/>
              </a:ext>
            </a:extLst>
          </p:cNvPr>
          <p:cNvSpPr/>
          <p:nvPr/>
        </p:nvSpPr>
        <p:spPr>
          <a:xfrm>
            <a:off x="482208" y="1804440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5830D9-914B-09E1-D2AB-B8EF4B84C4E7}"/>
              </a:ext>
            </a:extLst>
          </p:cNvPr>
          <p:cNvSpPr/>
          <p:nvPr/>
        </p:nvSpPr>
        <p:spPr>
          <a:xfrm>
            <a:off x="482207" y="1916931"/>
            <a:ext cx="4929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backend/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server.js                        # Express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서버 메인 파일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(5000+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줄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database-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setup.sql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# MySQL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 스키마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routes/                           # API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라우트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모듈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catch-scraper-service/ # Python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└──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catch_scraper.py   # Flask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웹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uploads/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업로드 파일 저장소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package.json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└── .env     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 변수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8CE708-F19D-E585-88FB-564AFFB28051}"/>
              </a:ext>
            </a:extLst>
          </p:cNvPr>
          <p:cNvSpPr/>
          <p:nvPr/>
        </p:nvSpPr>
        <p:spPr>
          <a:xfrm>
            <a:off x="6547471" y="1582538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B029CB-D1EB-5700-E16F-E2B97A04F1B0}"/>
              </a:ext>
            </a:extLst>
          </p:cNvPr>
          <p:cNvSpPr/>
          <p:nvPr/>
        </p:nvSpPr>
        <p:spPr>
          <a:xfrm>
            <a:off x="6547471" y="1804440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6E81C74-E73C-4036-C1B6-7EEA774477BC}"/>
              </a:ext>
            </a:extLst>
          </p:cNvPr>
          <p:cNvSpPr/>
          <p:nvPr/>
        </p:nvSpPr>
        <p:spPr>
          <a:xfrm>
            <a:off x="6505665" y="1929264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Express 5.1.0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RESTful API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MySQL2 Connection Pool 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최대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인증 미들웨어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CORS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다중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origin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지원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Swagger 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문서화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(/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-docs)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파일 업로드 처리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(Multer)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OpenAI 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통합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C9D87-9135-4F7C-8FE4-554D4E15AFB0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721956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873F-50E7-D054-281A-D5EE87A7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66485A-E941-1D27-A8EC-5EA4B6309DB8}"/>
              </a:ext>
            </a:extLst>
          </p:cNvPr>
          <p:cNvSpPr/>
          <p:nvPr/>
        </p:nvSpPr>
        <p:spPr>
          <a:xfrm>
            <a:off x="397504" y="62952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3.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데이터베이스 스키마</a:t>
            </a: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(MySQL)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A4506C-60E7-A959-F734-14890A036CD4}"/>
              </a:ext>
            </a:extLst>
          </p:cNvPr>
          <p:cNvSpPr/>
          <p:nvPr/>
        </p:nvSpPr>
        <p:spPr>
          <a:xfrm>
            <a:off x="453085" y="1166975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Users(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사용자 정보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70095B-456C-E413-B986-CECB56158A58}"/>
              </a:ext>
            </a:extLst>
          </p:cNvPr>
          <p:cNvSpPr/>
          <p:nvPr/>
        </p:nvSpPr>
        <p:spPr>
          <a:xfrm>
            <a:off x="453085" y="1388878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5469C0-3FC0-9B0E-F10D-A91A54B51282}"/>
              </a:ext>
            </a:extLst>
          </p:cNvPr>
          <p:cNvSpPr/>
          <p:nvPr/>
        </p:nvSpPr>
        <p:spPr>
          <a:xfrm>
            <a:off x="462609" y="1501369"/>
            <a:ext cx="550956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(PK, AUTO_INCREMENT)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provider_key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UNIQUE (ex: 'kakao:12345')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email: VARCHAR(255)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name: VARCHAR(100)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picture: VARCHAR(500)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provider: ENUM('google', '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')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34CF97B-00A9-C78F-4A56-E933BDE5726C}"/>
              </a:ext>
            </a:extLst>
          </p:cNvPr>
          <p:cNvSpPr/>
          <p:nvPr/>
        </p:nvSpPr>
        <p:spPr>
          <a:xfrm>
            <a:off x="453084" y="3623089"/>
            <a:ext cx="201136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User_Profiles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사용자 프로파일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28D0F65-55BE-C2CA-2D9B-CBAA8A88AA75}"/>
              </a:ext>
            </a:extLst>
          </p:cNvPr>
          <p:cNvSpPr/>
          <p:nvPr/>
        </p:nvSpPr>
        <p:spPr>
          <a:xfrm>
            <a:off x="453085" y="384499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6D359FA-1AED-1E79-E434-111543D76CD2}"/>
              </a:ext>
            </a:extLst>
          </p:cNvPr>
          <p:cNvSpPr/>
          <p:nvPr/>
        </p:nvSpPr>
        <p:spPr>
          <a:xfrm>
            <a:off x="453084" y="3957483"/>
            <a:ext cx="343552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INT (FK → users.id)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skills: JSON (ex: ["JavaScript", "React"])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experience: VARCHAR(50) (ex: "3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년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", 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신입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preferred_regions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JSON (ex: ["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서울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", 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"])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preferred_jobs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VARCHAR(200)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expected_salary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DECIMAL(10,2)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resume_path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VARCHAR(500)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CDEC4DA4-4226-BAEB-7A60-AEB64CFA3EC4}"/>
              </a:ext>
            </a:extLst>
          </p:cNvPr>
          <p:cNvSpPr/>
          <p:nvPr/>
        </p:nvSpPr>
        <p:spPr>
          <a:xfrm>
            <a:off x="5316456" y="1089439"/>
            <a:ext cx="260892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    Jobs 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채용 공고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50FA45F3-2F18-D5CB-3DAA-1C1F108B3E52}"/>
              </a:ext>
            </a:extLst>
          </p:cNvPr>
          <p:cNvSpPr/>
          <p:nvPr/>
        </p:nvSpPr>
        <p:spPr>
          <a:xfrm>
            <a:off x="5316457" y="1311343"/>
            <a:ext cx="340191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AC484B6-918B-7E4A-D42C-326E042B7385}"/>
              </a:ext>
            </a:extLst>
          </p:cNvPr>
          <p:cNvSpPr/>
          <p:nvPr/>
        </p:nvSpPr>
        <p:spPr>
          <a:xfrm>
            <a:off x="5316456" y="1423833"/>
            <a:ext cx="445619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UNIQUE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company_id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(FK → companies)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title: VARCHAR(300)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description, requirements: TEXT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skills: JSON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experience_level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VARCHAR(50)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employment_type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location, salary: VARCHAR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source,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source_url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VARCHAR/TEXT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posted_date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deadline_date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DATE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is_active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BOOLEAN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CF9B0-8218-9E72-DCD3-CBBDA59C020D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200358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9360-6F7D-1C9C-A6D4-0B23F54E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1B06FB-E689-8DC6-8ED4-16FC4B3CF6A0}"/>
              </a:ext>
            </a:extLst>
          </p:cNvPr>
          <p:cNvSpPr/>
          <p:nvPr/>
        </p:nvSpPr>
        <p:spPr>
          <a:xfrm>
            <a:off x="344488" y="59048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AI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 채용공고 추천</a:t>
            </a:r>
          </a:p>
          <a:p>
            <a:pPr>
              <a:lnSpc>
                <a:spcPts val="3469"/>
              </a:lnSpc>
            </a:pP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945FDC-7DBE-B390-6640-2EA19734C91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III. </a:t>
            </a:r>
            <a:r>
              <a:rPr lang="ko-KR" altLang="en-US" dirty="0"/>
              <a:t>주요 기능별 구현내용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695C1EC-9CBC-531C-FFD4-89C9E24AE06B}"/>
              </a:ext>
            </a:extLst>
          </p:cNvPr>
          <p:cNvSpPr/>
          <p:nvPr/>
        </p:nvSpPr>
        <p:spPr>
          <a:xfrm>
            <a:off x="378951" y="1065900"/>
            <a:ext cx="9098424" cy="276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맞춤 채용공고 추천기능은 사용자 이력서와 </a:t>
            </a:r>
            <a:r>
              <a:rPr lang="ko-KR" altLang="en-US" sz="13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(DB 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기반으로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가 </a:t>
            </a:r>
            <a:r>
              <a:rPr lang="ko-KR" altLang="en-US" sz="13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매칭점수가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높은 채용공고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6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추천해줍니다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1. MySQL DB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에서 로그인한 사용자 이력서와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테이블의 데이터를 조회 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- jobs(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테이블에서 채용공고 조회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- </a:t>
            </a:r>
            <a:r>
              <a:rPr lang="en-US" altLang="ko-KR" sz="13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User_profiles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테이블에서 사용자 이력서 조회</a:t>
            </a:r>
            <a:endParaRPr lang="en-US" altLang="ko-KR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 * 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 </a:t>
            </a:r>
            <a:r>
              <a:rPr lang="ko-KR" altLang="en-US" sz="13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미입력시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사전 정의된 기본 프로필로 조회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(skill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13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javascript,python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희망지역은 서울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경기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직무는 개발자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~)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2.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질문하기 위한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Prompt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생성합니다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(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요청내용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이력서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채용공고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100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응답형식 등 정의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당신은 채용 추천 전문가입니다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다음 사용자 프로필과 채용공고 목록을 분석하여 가장 적합한 채용공고를 추천해주세요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프로필은 스킬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희망직무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희망지역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희망연봉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목록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(100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: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직무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지역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연봉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~~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위 사용자에게 가장 적합한 채용공고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6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추천하고 각 공고별로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매칭점수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추천이유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매칭도를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JSON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형식으로 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~~~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3. GPT-5-mini API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호출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(prompt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response_format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전달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GPT API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장애 시 사전 정의한 기본 매칭 알고리즘으로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 채용공고를 제공하여 서비스 중단 없이 사용자에게 항상 결과 제공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매칭되는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skill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개수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X 10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매칭되는 지역 개수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X 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경력 매칭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신입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경력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X 10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4)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기본점수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50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최고점은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5.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전달받은 사용자 이력서와 채용공고를 매칭하여 매칭 점수 계산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추천이유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순위를 매김</a:t>
            </a:r>
            <a:endParaRPr lang="en-US" altLang="ko-KR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6. 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순위가 높은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채용정보를 반환해줌</a:t>
            </a:r>
            <a:endParaRPr lang="en-US" altLang="ko-KR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추천 로그를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recommendation_logs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-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 목적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추천 이력 추적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향후 데이터 분석 및 개선</a:t>
            </a:r>
            <a:endParaRPr lang="en-US" altLang="ko-KR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3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프런트엔드가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추천해준 채용공고를 화면에 보여줌 </a:t>
            </a:r>
            <a:endParaRPr lang="en-US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953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F675-8A63-7F02-E3F5-C4F9779D3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30DF9F-CC1A-69EF-E14C-FF65884F7A33}"/>
              </a:ext>
            </a:extLst>
          </p:cNvPr>
          <p:cNvSpPr/>
          <p:nvPr/>
        </p:nvSpPr>
        <p:spPr>
          <a:xfrm>
            <a:off x="464179" y="62594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AI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면접 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21899950-4674-107B-565A-E71264B4C085}"/>
              </a:ext>
            </a:extLst>
          </p:cNvPr>
          <p:cNvSpPr/>
          <p:nvPr/>
        </p:nvSpPr>
        <p:spPr>
          <a:xfrm>
            <a:off x="498642" y="1066816"/>
            <a:ext cx="8696082" cy="276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면접 기능은 사용자가 입력한 회사명과 포지션을 기반으로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가 맞춤형 면접 질문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생성해줍니다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회사명과 지원 포지션을 입력하면 면접질문 조건을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user_interview_conditions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 저장합니다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-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 저장 목적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사용자의 면접 준비 이력 추적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향후 데이터 분석 및 개선에 활용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자주 검색하는 회사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/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포지션 파악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2. Catch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회사정보와 리뷰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20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건을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3. MySQL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로그인한 사용자의 이력서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user_profiles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조회합니다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4.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질문하기 위한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Prompt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생성합니다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당신은 전문 면접관입니다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다음 정보를 바탕으로 면접 질문을 생성해주세요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포지션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백엔드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개발자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프로필은 스킬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희망직무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리뷰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(20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:~~~,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문화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~~~,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총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 면접질문을 아래 형식으로 응답은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JSON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형식으로 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~~~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5. GPT-5-mini API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호출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(prompt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response_format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전달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6. GPT API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장애 시 사전 정의한 기본 질문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 제공하여 서비스 중단 없이 사용자에게 항상 결과 제공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자기소개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지원이유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직무에 필요한 핵심 역량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본인 강정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약점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최근 공부한 기술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트렌트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면접 로그를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interview_logs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-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 목적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사용자의 면접 준비 이력 추적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어떤 채용공에 대해 면접질문을 생성했는지 기록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향후 데이터 분석 및 개선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8. </a:t>
            </a:r>
            <a:r>
              <a:rPr lang="ko-KR" altLang="en-US" sz="13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프런트엔드가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생성해준 면접질문을 화면에 보여줌 </a:t>
            </a:r>
            <a:endParaRPr lang="en-US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BB88C-27D2-D2C6-2F93-8E3D30EE1639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III. </a:t>
            </a:r>
            <a:r>
              <a:rPr lang="ko-KR" altLang="en-US" dirty="0"/>
              <a:t>주요 기능별 구현내용</a:t>
            </a:r>
          </a:p>
        </p:txBody>
      </p:sp>
    </p:spTree>
    <p:extLst>
      <p:ext uri="{BB962C8B-B14F-4D97-AF65-F5344CB8AC3E}">
        <p14:creationId xmlns:p14="http://schemas.microsoft.com/office/powerpoint/2010/main" val="325356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210" y="1205509"/>
            <a:ext cx="3166021" cy="39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94"/>
              </a:lnSpc>
            </a:pPr>
            <a:r>
              <a:rPr lang="en-US" sz="246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카카오 로그인 플로우</a:t>
            </a:r>
            <a:endParaRPr lang="en-US" sz="246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11" y="1854473"/>
            <a:ext cx="633189" cy="759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3978" y="1981052"/>
            <a:ext cx="1583011" cy="197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2"/>
              </a:lnSpc>
            </a:pPr>
            <a:r>
              <a:rPr lang="en-US" sz="1219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사용자</a:t>
            </a:r>
            <a:r>
              <a:rPr lang="en-US" sz="1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로그인</a:t>
            </a:r>
            <a:endParaRPr lang="en-US" sz="1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1583978" y="2254821"/>
            <a:ext cx="7497812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96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로그인 버튼</a:t>
            </a:r>
            <a:endParaRPr lang="en-US" sz="96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11" y="2614316"/>
            <a:ext cx="633189" cy="7598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83978" y="2740894"/>
            <a:ext cx="1583011" cy="197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2"/>
              </a:lnSpc>
            </a:pPr>
            <a:r>
              <a:rPr lang="en-US" sz="1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인증 URL 생성</a:t>
            </a:r>
            <a:endParaRPr lang="en-US" sz="1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83978" y="3014664"/>
            <a:ext cx="7497812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96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백엔드에서 카카오 OAuth URL 반환</a:t>
            </a:r>
            <a:endParaRPr lang="en-US" sz="96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11" y="3374157"/>
            <a:ext cx="633189" cy="7598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83978" y="3500735"/>
            <a:ext cx="1583011" cy="197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2"/>
              </a:lnSpc>
            </a:pPr>
            <a:r>
              <a:rPr lang="en-US" sz="1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카카오 인증</a:t>
            </a:r>
            <a:endParaRPr lang="en-US" sz="1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583978" y="3774506"/>
            <a:ext cx="7497812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96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정보 확인 및 동의</a:t>
            </a:r>
            <a:endParaRPr lang="en-US" sz="96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211" y="4133999"/>
            <a:ext cx="633189" cy="7598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83978" y="4260577"/>
            <a:ext cx="1583011" cy="197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2"/>
              </a:lnSpc>
            </a:pPr>
            <a:r>
              <a:rPr lang="en-US" sz="1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토큰 발급</a:t>
            </a:r>
            <a:endParaRPr lang="en-US" sz="1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583978" y="4534347"/>
            <a:ext cx="7497812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96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JWT 생성 및 DB 저장</a:t>
            </a:r>
            <a:endParaRPr lang="en-US" sz="96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211" y="4893841"/>
            <a:ext cx="633189" cy="7598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83978" y="5020419"/>
            <a:ext cx="1583011" cy="197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2"/>
              </a:lnSpc>
            </a:pPr>
            <a:r>
              <a:rPr lang="en-US" sz="1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자동 프로필</a:t>
            </a:r>
            <a:endParaRPr lang="en-US" sz="1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583978" y="5294190"/>
            <a:ext cx="7497812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96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최초 로그인 시 백엔드/프론트엔드 개발자 프로필 랜덤 생성</a:t>
            </a:r>
            <a:endParaRPr lang="en-US" sz="96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7570" y="1185192"/>
            <a:ext cx="3042940" cy="371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7"/>
              </a:lnSpc>
            </a:pPr>
            <a:r>
              <a:rPr lang="en-US" sz="231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질문 생성 시스템</a:t>
            </a:r>
            <a:endParaRPr lang="en-US" sz="231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7570" y="1795091"/>
            <a:ext cx="8310860" cy="19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플랫폼에서 회사 리뷰 20건을 스크래핑하고 DB 채용공고 데이터와 통합하여 GPT-5-mini가 맞춤형 면접 질문을 생성합니다.</a:t>
            </a:r>
            <a:endParaRPr lang="en-US" sz="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45857" y="2119313"/>
            <a:ext cx="14288" cy="3553421"/>
          </a:xfrm>
          <a:prstGeom prst="roundRect">
            <a:avLst>
              <a:gd name="adj" fmla="val 124959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76379" y="2246039"/>
            <a:ext cx="357039" cy="14288"/>
          </a:xfrm>
          <a:prstGeom prst="roundRect">
            <a:avLst>
              <a:gd name="adj" fmla="val 124959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19130" y="2119313"/>
            <a:ext cx="267742" cy="267742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63741" y="2141599"/>
            <a:ext cx="178519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70151" y="2160166"/>
            <a:ext cx="1487761" cy="18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437"/>
              </a:lnSpc>
            </a:pPr>
            <a:r>
              <a:rPr lang="en-US" sz="11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회사명/포지션 입력</a:t>
            </a:r>
            <a:endParaRPr lang="en-US" sz="11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7570" y="2417415"/>
            <a:ext cx="3560341" cy="19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469"/>
              </a:lnSpc>
            </a:pPr>
            <a:r>
              <a:rPr lang="en-US" sz="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원하는 회사와 직무 정보 제공</a:t>
            </a:r>
            <a:endParaRPr lang="en-US" sz="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72584" y="2960043"/>
            <a:ext cx="357039" cy="14288"/>
          </a:xfrm>
          <a:prstGeom prst="roundRect">
            <a:avLst>
              <a:gd name="adj" fmla="val 124959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19130" y="2833316"/>
            <a:ext cx="267742" cy="267742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63741" y="2855603"/>
            <a:ext cx="178519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48090" y="2874168"/>
            <a:ext cx="1487761" cy="18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1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Catch 리뷰 수집</a:t>
            </a:r>
            <a:endParaRPr lang="en-US" sz="11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48090" y="3131418"/>
            <a:ext cx="3560341" cy="19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Python Flask 스크래퍼로 회사 리뷰 20건 자동 수집</a:t>
            </a:r>
            <a:endParaRPr lang="en-US" sz="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476379" y="3575522"/>
            <a:ext cx="357039" cy="14288"/>
          </a:xfrm>
          <a:prstGeom prst="roundRect">
            <a:avLst>
              <a:gd name="adj" fmla="val 124959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19130" y="3448795"/>
            <a:ext cx="267742" cy="267742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63741" y="3471082"/>
            <a:ext cx="178519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70151" y="3489647"/>
            <a:ext cx="1487761" cy="18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437"/>
              </a:lnSpc>
            </a:pPr>
            <a:r>
              <a:rPr lang="en-US" sz="11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DB 데이터 통합</a:t>
            </a:r>
            <a:endParaRPr lang="en-US" sz="11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7570" y="3746897"/>
            <a:ext cx="3560341" cy="19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469"/>
              </a:lnSpc>
            </a:pPr>
            <a:r>
              <a:rPr lang="en-US" sz="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요구사항 및 회사 정보 조회</a:t>
            </a:r>
            <a:endParaRPr lang="en-US" sz="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72584" y="4191000"/>
            <a:ext cx="357039" cy="14288"/>
          </a:xfrm>
          <a:prstGeom prst="roundRect">
            <a:avLst>
              <a:gd name="adj" fmla="val 124959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19130" y="4064273"/>
            <a:ext cx="267742" cy="267742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63741" y="4086560"/>
            <a:ext cx="178519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4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48090" y="4105126"/>
            <a:ext cx="1487761" cy="18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1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GPT-5-mini 분석</a:t>
            </a:r>
            <a:endParaRPr lang="en-US" sz="11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48090" y="4362376"/>
            <a:ext cx="3560341" cy="19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+ 리뷰 + DB 데이터 기반 질문 생성</a:t>
            </a:r>
            <a:endParaRPr lang="en-US" sz="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476379" y="4806479"/>
            <a:ext cx="357039" cy="14288"/>
          </a:xfrm>
          <a:prstGeom prst="roundRect">
            <a:avLst>
              <a:gd name="adj" fmla="val 124959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19130" y="4679752"/>
            <a:ext cx="267742" cy="267742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63741" y="4702039"/>
            <a:ext cx="178519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5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870151" y="4720605"/>
            <a:ext cx="1487761" cy="18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437"/>
              </a:lnSpc>
            </a:pPr>
            <a:r>
              <a:rPr lang="en-US" sz="11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맞춤형 질문 5개</a:t>
            </a:r>
            <a:endParaRPr lang="en-US" sz="11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7570" y="4977854"/>
            <a:ext cx="3560341" cy="19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469"/>
              </a:lnSpc>
            </a:pPr>
            <a:r>
              <a:rPr lang="en-US" sz="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난이도/카테고리 분류된 면접 질문 제공</a:t>
            </a:r>
            <a:endParaRPr lang="en-US" sz="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119" y="165794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3단계 Fallback 시스템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19" y="2384451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안정적인 서비스 제공을 위한 다층 백업 전략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19" y="3196009"/>
            <a:ext cx="2622724" cy="714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8878" y="3763045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1차: MCP 서비스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18877" y="4069557"/>
            <a:ext cx="23392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localhost:4002 로컬 서비스 우선 호출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601" y="2983334"/>
            <a:ext cx="2622724" cy="714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83361" y="3550369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2차: GPT-5-mini 직접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3783360" y="3856881"/>
            <a:ext cx="23392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OpenAI API 직접 호출로 질문 생성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084" y="2770733"/>
            <a:ext cx="2622724" cy="714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47843" y="3337768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3차: 샘플 질문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547842" y="3644281"/>
            <a:ext cx="23392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미리 준비된 기본 면접 질문 반환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877119" y="4597599"/>
            <a:ext cx="8151763" cy="602382"/>
          </a:xfrm>
          <a:prstGeom prst="roundRect">
            <a:avLst>
              <a:gd name="adj" fmla="val 3530"/>
            </a:avLst>
          </a:prstGeom>
          <a:solidFill>
            <a:srgbClr val="D6D6DC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878" y="4812656"/>
            <a:ext cx="177180" cy="1417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37817" y="4774779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b="1" dirty="0">
                <a:solidFill>
                  <a:srgbClr val="0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안정성 보장:</a:t>
            </a:r>
            <a:r>
              <a:rPr lang="en-US" sz="1094" dirty="0">
                <a:solidFill>
                  <a:srgbClr val="0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API 장애 시에도 사용자에게 항상 면접 질문을 제공할 수 있는 구조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17" y="857250"/>
            <a:ext cx="201138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119" y="160831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성능 최적화 전략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84143" y="2263900"/>
            <a:ext cx="3440817" cy="1535386"/>
          </a:xfrm>
          <a:prstGeom prst="roundRect">
            <a:avLst>
              <a:gd name="adj" fmla="val 5956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84144" y="2263900"/>
            <a:ext cx="82297" cy="1535386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902103" y="2424708"/>
            <a:ext cx="2528713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sessionStorage 캐싱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902102" y="2731219"/>
            <a:ext cx="3130477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추천 결과를 세션에 저장하여 중복 API 호출 방지. </a:t>
            </a:r>
          </a:p>
          <a:p>
            <a:pPr>
              <a:lnSpc>
                <a:spcPts val="1782"/>
              </a:lnSpc>
            </a:pPr>
            <a:r>
              <a:rPr 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새로고침</a:t>
            </a: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버튼으로</a:t>
            </a: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캐시 삭제 및 재추천 가능.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8431" y="2263900"/>
            <a:ext cx="2912834" cy="1535386"/>
          </a:xfrm>
          <a:prstGeom prst="roundRect">
            <a:avLst>
              <a:gd name="adj" fmla="val 5956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47595" y="2263900"/>
            <a:ext cx="84428" cy="1535386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66390" y="2424708"/>
            <a:ext cx="2253446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Connection Pool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66390" y="2731219"/>
            <a:ext cx="2618278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MySQL 연결 풀 최대 10개로 </a:t>
            </a:r>
            <a:r>
              <a:rPr 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설정하여</a:t>
            </a: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</a:p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DB 성능 최적화 및 안정적인 동시 접속 처리.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84143" y="3941043"/>
            <a:ext cx="3440817" cy="1308572"/>
          </a:xfrm>
          <a:prstGeom prst="roundRect">
            <a:avLst>
              <a:gd name="adj" fmla="val 6988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84144" y="3941043"/>
            <a:ext cx="82297" cy="1308572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02103" y="4101852"/>
            <a:ext cx="2528713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자동 배포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02103" y="4408364"/>
            <a:ext cx="2863636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Vercel과 Railway에서 Git Push 시 </a:t>
            </a:r>
            <a:r>
              <a:rPr 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자동</a:t>
            </a: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배포로</a:t>
            </a:r>
            <a:endParaRPr lang="en-US" sz="1094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수동</a:t>
            </a: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개입 최소화 및 빠른 업데이트.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247" y="857250"/>
            <a:ext cx="240475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119" y="125246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글래스모피즘 UI 디자인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877119" y="2035598"/>
            <a:ext cx="412783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현대적이고 세련된 사용자 경험을 제공하는 디자인 시스템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877119" y="2616771"/>
            <a:ext cx="412783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82"/>
              </a:lnSpc>
              <a:buSzPct val="100000"/>
              <a:buChar char="•"/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반투명 배경 + backdrop-filter blur 효과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877119" y="2893145"/>
            <a:ext cx="412783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04" indent="-214304">
              <a:lnSpc>
                <a:spcPts val="1782"/>
              </a:lnSpc>
              <a:buSzPct val="100000"/>
              <a:buChar char="•"/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그라데이션 버튼 (핑크 #f093fb → #f5576c)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877119" y="3396334"/>
            <a:ext cx="412783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82"/>
              </a:lnSpc>
              <a:buSzPct val="100000"/>
              <a:buChar char="•"/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회전 애니메이션 새로고침 버튼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877119" y="3672707"/>
            <a:ext cx="412783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82"/>
              </a:lnSpc>
              <a:buSzPct val="100000"/>
              <a:buChar char="•"/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fadeIn/slideUp 애니메이션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877119" y="3949081"/>
            <a:ext cx="412783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82"/>
              </a:lnSpc>
              <a:buSzPct val="100000"/>
              <a:buChar char="•"/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모달, 헤더, 카드에 일관된 스타일 적용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132836" y="2138363"/>
            <a:ext cx="16815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57"/>
              </a:lnSpc>
            </a:pPr>
            <a:r>
              <a:rPr lang="en-US" sz="36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13</a:t>
            </a:r>
            <a:endParaRPr lang="en-US" sz="36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132836" y="2783235"/>
            <a:ext cx="1681534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페이지 컴포넌트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132836" y="3359051"/>
            <a:ext cx="16815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57"/>
              </a:lnSpc>
            </a:pPr>
            <a:r>
              <a:rPr lang="en-US" sz="36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40+</a:t>
            </a:r>
            <a:endParaRPr lang="en-US" sz="36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132836" y="4003923"/>
            <a:ext cx="1681534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API 엔드포인트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132836" y="4579740"/>
            <a:ext cx="16815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57"/>
              </a:lnSpc>
            </a:pPr>
            <a:r>
              <a:rPr lang="en-US" sz="36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5000+</a:t>
            </a:r>
            <a:endParaRPr lang="en-US" sz="36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132836" y="5224611"/>
            <a:ext cx="1681534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 코드 라인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033" y="1168375"/>
            <a:ext cx="2828999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82"/>
              </a:lnSpc>
            </a:pPr>
            <a:r>
              <a:rPr lang="en-US" sz="2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프로젝트 성과 및 배포</a:t>
            </a:r>
            <a:endParaRPr lang="en-US" sz="2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25849" y="2483793"/>
            <a:ext cx="1391841" cy="28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19"/>
              </a:lnSpc>
            </a:pPr>
            <a:r>
              <a:rPr lang="en-US" sz="2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100%</a:t>
            </a:r>
            <a:endParaRPr lang="en-US" sz="2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150" y="1776562"/>
            <a:ext cx="1697385" cy="16973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4612" y="3615334"/>
            <a:ext cx="141446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풀스택 완성도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7032" y="3860007"/>
            <a:ext cx="2689697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07"/>
              </a:lnSpc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React + Express + MySQL 완전 통합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56931" y="2483793"/>
            <a:ext cx="1391841" cy="28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19"/>
              </a:lnSpc>
            </a:pPr>
            <a:r>
              <a:rPr lang="en-US" sz="2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</a:t>
            </a:r>
            <a:endParaRPr lang="en-US" sz="2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233" y="1776562"/>
            <a:ext cx="1697385" cy="16973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45694" y="3615334"/>
            <a:ext cx="141446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외부 서비스 연동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608114" y="3860007"/>
            <a:ext cx="2689697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07"/>
              </a:lnSpc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Kakao, OpenAI, Catch 통합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088015" y="2483793"/>
            <a:ext cx="1391841" cy="28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19"/>
              </a:lnSpc>
            </a:pPr>
            <a:r>
              <a:rPr lang="en-US" sz="2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9</a:t>
            </a:r>
            <a:endParaRPr lang="en-US" sz="2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317" y="1776562"/>
            <a:ext cx="1697385" cy="169738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76778" y="3615334"/>
            <a:ext cx="141446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데이터베이스 테이블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439197" y="3860007"/>
            <a:ext cx="2689697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07"/>
              </a:lnSpc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정규화된 스키마 설계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77032" y="4224872"/>
            <a:ext cx="8351937" cy="18902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77032" y="4484118"/>
            <a:ext cx="1697385" cy="212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7"/>
              </a:lnSpc>
            </a:pPr>
            <a:r>
              <a:rPr lang="en-US" sz="131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배포 환경</a:t>
            </a:r>
            <a:endParaRPr lang="en-US" sz="131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77032" y="4809381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프론트엔드:</a:t>
            </a: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Vercel (commitjob.site)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77032" y="5030020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백엔드:</a:t>
            </a: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Railway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77032" y="5250657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데이터베이스:</a:t>
            </a: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AWS RDS (서울 리전)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5095801" y="4484118"/>
            <a:ext cx="1697385" cy="212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7"/>
              </a:lnSpc>
            </a:pPr>
            <a:r>
              <a:rPr lang="en-US" sz="131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핵심 차별화</a:t>
            </a:r>
            <a:endParaRPr lang="en-US" sz="131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095801" y="4809381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 + Catch 20건 리뷰 통합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5095801" y="5030020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자동 프로필 생성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095801" y="5250657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 캐싱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5095801" y="5471295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 디자인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191</TotalTime>
  <Words>2037</Words>
  <Application>Microsoft Office PowerPoint</Application>
  <PresentationFormat>A4 용지(210x297mm)</PresentationFormat>
  <Paragraphs>293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한컴 고딕</vt:lpstr>
      <vt:lpstr>Calibri Light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차민희</cp:lastModifiedBy>
  <cp:revision>28</cp:revision>
  <dcterms:created xsi:type="dcterms:W3CDTF">2025-10-08T14:40:45Z</dcterms:created>
  <dcterms:modified xsi:type="dcterms:W3CDTF">2025-10-08T17:52:47Z</dcterms:modified>
</cp:coreProperties>
</file>