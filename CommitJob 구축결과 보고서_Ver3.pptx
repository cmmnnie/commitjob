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80" r:id="rId14"/>
    <p:sldId id="275" r:id="rId15"/>
    <p:sldId id="276" r:id="rId16"/>
    <p:sldId id="278" r:id="rId17"/>
    <p:sldId id="282" r:id="rId18"/>
    <p:sldId id="279" r:id="rId19"/>
    <p:sldId id="281" r:id="rId20"/>
    <p:sldId id="277" r:id="rId21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" y="-12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9AC5-BA04-32B9-8AB4-3E60D0F2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FA8-F743-4E60-1955-B542B5F2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84F0D-9053-99EE-EA5B-CA246FF8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2E8E-E19D-EB33-C3B5-F8D489618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82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5516-3143-011C-ECC3-10F34EBE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34E2-2013-D79F-FBAE-8523412DD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8141-7AD5-D4C3-1FF5-EE8B805A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A3A3-91A3-5718-080C-42121DAB5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82EA-DD11-6239-7992-8F7C4AED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C0312-8739-6356-B5E1-DB03873B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9C70-3B4A-7569-276A-22AD8E061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A64E-AD8A-46B0-D2AF-C1313A051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82D4-EACB-BF3A-D0E6-02BAF130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D083E-D418-A6CD-81CC-3170C9EBE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7B0BD-809D-DDCB-2481-E5D5AE0D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7C400-9B8C-8DF5-8739-E176AFE5D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43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770D-9CFB-F118-F89E-B517834C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86DEA-10D4-544C-37EB-61212770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611FE-D1F6-08EA-B3A7-E7D7FD28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FA6D-63CB-44B4-720F-592FB538F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2D69-3377-6FDC-F3D8-B1A90EF6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FE531-2BB9-949A-9506-9CF89631D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C3C5A-6857-1700-D3DB-95BBA624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9343-254F-35A2-67B7-15136738A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1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DB4D-A83E-CB2B-8AE5-FA39FF09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F562B-01B4-352C-CF2F-3076FC6F5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C094-B93F-04D6-6EEA-C4446EB1C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02431-FB12-C9A3-F185-B166B8B5E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8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4D76-C9C3-AFEA-E55C-51D130E5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84D97-9205-960E-33A3-713883E41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FA647-DA84-B05A-294F-96358CE11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E4DD5-9737-BDF6-6506-F06596542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49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23B8-9DA4-94CA-D9D0-466B00A6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9F86D-ED3B-E709-FD1E-0F8611059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76983-0215-D004-31BE-43B85951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3F77-EFEE-D404-2392-5AD040C1B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59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3689-11E8-E72E-179A-CAD7123D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41254-3195-42EE-6568-AA2A11DE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CE105-BF62-8052-5052-F9D18B80B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29FF2-196A-BE79-1617-A5F06CF15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52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C90E-0E15-FD5A-53F5-C4FD99AC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C22EE-F146-64FA-2EF7-FE45AE3CE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00A5-48EA-A36D-26F5-2D81AB14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A454D-DDA5-CD1A-D9D6-ACC0C9ACA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ammy447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이력서와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</a:t>
            </a:r>
            <a:r>
              <a:rPr lang="ko-KR" altLang="en-US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으로 </a:t>
            </a:r>
            <a:r>
              <a:rPr lang="en-US" altLang="ko-KR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2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2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실시간 채용정보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100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 </a:t>
            </a:r>
            <a:r>
              <a:rPr lang="ko-KR" altLang="en-US" sz="12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시 시간 지연되기에 대신에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기반으로 채용공고 추천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!!)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2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2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2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2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2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2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 API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2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합산점수는 최대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endParaRPr lang="en-US" altLang="ko-KR" sz="120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2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2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로그를 </a:t>
            </a:r>
            <a:r>
              <a:rPr lang="en-US" altLang="ko-KR" sz="12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recommendation_logs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2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 이력 추적 </a:t>
            </a:r>
            <a:r>
              <a:rPr lang="en-US" altLang="ko-KR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2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2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2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544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기출질문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</a:t>
            </a:r>
            <a:r>
              <a:rPr lang="ko-KR" altLang="en-US" sz="13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생성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프로필과 실시간 </a:t>
            </a:r>
            <a:r>
              <a:rPr lang="ko-KR" altLang="en-US" sz="1300" b="1" u="sng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기출질문 정보를 바탕으로 면접 질문을 생성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기출질문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로그를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interview_logs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면접 준비 이력 추적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어떤 채용공에 대해 면접질문을 생성했는지 기록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향후 데이터 분석 및 개선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0E8C-931C-9A71-C0C1-4D165FB4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63F6D-ACCC-FD22-9D84-26681BB0FE50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24CF2-F180-226F-79C6-FBA9F1F6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31" y="1019175"/>
            <a:ext cx="3319616" cy="5562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F2EA6B-73BF-9703-400F-1F7F256D1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882" y="1019175"/>
            <a:ext cx="3006430" cy="50863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7CBC49-EAD8-C245-EE08-7CACEBC88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53" y="1019175"/>
            <a:ext cx="2914841" cy="47529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33511BC-0ADD-2E80-A274-93FF0FF36302}"/>
              </a:ext>
            </a:extLst>
          </p:cNvPr>
          <p:cNvSpPr/>
          <p:nvPr/>
        </p:nvSpPr>
        <p:spPr>
          <a:xfrm>
            <a:off x="255331" y="695325"/>
            <a:ext cx="3183194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1. https://commitjob.site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초기화면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CFF7B52-F972-B07D-CE82-03BC90F4995A}"/>
              </a:ext>
            </a:extLst>
          </p:cNvPr>
          <p:cNvSpPr/>
          <p:nvPr/>
        </p:nvSpPr>
        <p:spPr>
          <a:xfrm>
            <a:off x="3638882" y="695325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안내화면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2A74ADB-2598-08DA-0FC5-9FBD01A4763E}"/>
              </a:ext>
            </a:extLst>
          </p:cNvPr>
          <p:cNvSpPr/>
          <p:nvPr/>
        </p:nvSpPr>
        <p:spPr>
          <a:xfrm>
            <a:off x="6877382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925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802F-EAAE-0DB2-A67A-E1393119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F3E3A-A8D5-4598-A571-564C6A4C91A8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D630EF-FDC0-BA9B-CBC0-1EAC933D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1036775"/>
            <a:ext cx="2652445" cy="42921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98FC69-287E-CF9F-F78D-5BB1A0122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325" y="1036775"/>
            <a:ext cx="3208313" cy="534277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320BAFA-4FF4-3ADE-A1B4-2B9135696EDD}"/>
              </a:ext>
            </a:extLst>
          </p:cNvPr>
          <p:cNvSpPr/>
          <p:nvPr/>
        </p:nvSpPr>
        <p:spPr>
          <a:xfrm>
            <a:off x="437388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QR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AFEB2A0-A6E0-5D99-B235-EF1B5758E092}"/>
              </a:ext>
            </a:extLst>
          </p:cNvPr>
          <p:cNvSpPr/>
          <p:nvPr/>
        </p:nvSpPr>
        <p:spPr>
          <a:xfrm>
            <a:off x="3228213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로그인한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commitjob.site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홈화면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894056-5B21-9277-74EF-4BBF8573D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5" y="1059780"/>
            <a:ext cx="3238736" cy="54292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78B9F6-6D00-9437-AA24-1FAEA601EE2F}"/>
              </a:ext>
            </a:extLst>
          </p:cNvPr>
          <p:cNvSpPr txBox="1"/>
          <p:nvPr/>
        </p:nvSpPr>
        <p:spPr>
          <a:xfrm>
            <a:off x="6467555" y="65850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 메뉴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8109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EF3-01E9-9815-D8A7-F7D5086C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29F58-3B68-EB87-9481-82C227E1B4ED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00277-B5E9-6340-8BF2-9E338AA17FC2}"/>
              </a:ext>
            </a:extLst>
          </p:cNvPr>
          <p:cNvSpPr txBox="1"/>
          <p:nvPr/>
        </p:nvSpPr>
        <p:spPr>
          <a:xfrm>
            <a:off x="3922736" y="687273"/>
            <a:ext cx="29819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로그아웃 화면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9FFC0-02D3-6BA3-503B-596A3A47CBDB}"/>
              </a:ext>
            </a:extLst>
          </p:cNvPr>
          <p:cNvSpPr txBox="1"/>
          <p:nvPr/>
        </p:nvSpPr>
        <p:spPr>
          <a:xfrm>
            <a:off x="7140573" y="68899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회원 탈회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화면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BA7F04-2ED0-76AC-4B7B-AD3FAB2B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188" y="1081087"/>
            <a:ext cx="2692001" cy="45053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8D2C6E-8D8E-AFBC-8326-F92486BD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571" y="1081087"/>
            <a:ext cx="2664779" cy="44746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DB19A5-07B7-BEBB-AD02-88D463805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8" y="1061238"/>
            <a:ext cx="3208313" cy="5342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9AB6E6-5D3A-3983-DC80-8B4257B37349}"/>
              </a:ext>
            </a:extLst>
          </p:cNvPr>
          <p:cNvSpPr txBox="1"/>
          <p:nvPr/>
        </p:nvSpPr>
        <p:spPr>
          <a:xfrm>
            <a:off x="382588" y="686336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프로필 화면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7349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898F-43B5-1864-C468-2960CC13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5160B7-4CA1-F3A9-8ECF-C22530402C2C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2F02C-1B55-003A-E2E3-507BC12908F1}"/>
              </a:ext>
            </a:extLst>
          </p:cNvPr>
          <p:cNvSpPr txBox="1"/>
          <p:nvPr/>
        </p:nvSpPr>
        <p:spPr>
          <a:xfrm>
            <a:off x="315936" y="661873"/>
            <a:ext cx="89804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최초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로그인시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생성 로그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046AF-8942-7492-300D-59BC82384650}"/>
              </a:ext>
            </a:extLst>
          </p:cNvPr>
          <p:cNvSpPr txBox="1"/>
          <p:nvPr/>
        </p:nvSpPr>
        <p:spPr>
          <a:xfrm>
            <a:off x="292124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/>
              <a:t>[KAKAO-CALLBACK] </a:t>
            </a:r>
            <a:r>
              <a:rPr lang="en-US" altLang="ko-KR" dirty="0">
                <a:solidFill>
                  <a:srgbClr val="FF0000"/>
                </a:solidFill>
              </a:rPr>
              <a:t>Kakao user data: { id: 4476649013, nickname: '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', </a:t>
            </a:r>
            <a:r>
              <a:rPr lang="en-US" altLang="ko-KR" dirty="0" err="1">
                <a:solidFill>
                  <a:srgbClr val="FF0000"/>
                </a:solidFill>
              </a:rPr>
              <a:t>has_email</a:t>
            </a:r>
            <a:r>
              <a:rPr lang="en-US" altLang="ko-KR" dirty="0">
                <a:solidFill>
                  <a:srgbClr val="FF0000"/>
                </a:solidFill>
              </a:rPr>
              <a:t>: true }</a:t>
            </a:r>
          </a:p>
          <a:p>
            <a:pPr fontAlgn="t" latinLnBrk="1"/>
            <a:r>
              <a:rPr lang="en-US" altLang="ko-KR" dirty="0"/>
              <a:t>[KAKAO-CALLBACK] Creating/finding user with </a:t>
            </a:r>
            <a:r>
              <a:rPr lang="en-US" altLang="ko-KR" dirty="0" err="1"/>
              <a:t>providerKey</a:t>
            </a:r>
            <a:r>
              <a:rPr lang="en-US" altLang="ko-KR" dirty="0"/>
              <a:t>: kakao:4476649013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[DB] </a:t>
            </a:r>
            <a:r>
              <a:rPr lang="ko-KR" altLang="en-US" dirty="0">
                <a:solidFill>
                  <a:srgbClr val="FF0000"/>
                </a:solidFill>
              </a:rPr>
              <a:t>최초 로그인 </a:t>
            </a: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새 사용자 생성 </a:t>
            </a:r>
            <a:r>
              <a:rPr lang="en-US" altLang="ko-KR" dirty="0">
                <a:solidFill>
                  <a:srgbClr val="FF0000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SQL: INSERT INTO users (</a:t>
            </a:r>
            <a:r>
              <a:rPr lang="en-US" altLang="ko-KR" dirty="0" err="1">
                <a:solidFill>
                  <a:srgbClr val="FF0000"/>
                </a:solidFill>
              </a:rPr>
              <a:t>provider_key</a:t>
            </a:r>
            <a:r>
              <a:rPr lang="en-US" altLang="ko-KR" dirty="0">
                <a:solidFill>
                  <a:srgbClr val="FF0000"/>
                </a:solidFill>
              </a:rPr>
              <a:t>, email, name, picture, provider) VALUES (?, ?, ?, ?, ?)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Params: ["kakao:4476649013","hammy447@gmail.com","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","http://k.kakaocdn.net/</a:t>
            </a:r>
            <a:r>
              <a:rPr lang="en-US" altLang="ko-KR" dirty="0" err="1">
                <a:solidFill>
                  <a:srgbClr val="FF0000"/>
                </a:solidFill>
              </a:rPr>
              <a:t>dn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bmMhzO</a:t>
            </a:r>
            <a:r>
              <a:rPr lang="en-US" altLang="ko-KR" dirty="0">
                <a:solidFill>
                  <a:srgbClr val="FF0000"/>
                </a:solidFill>
              </a:rPr>
              <a:t>/btsP0gx6X1S/qk4olOdQ3OSiQXJQes77Uk/img_640x640.jpg","kakao"]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새 사용자 생성 완료 </a:t>
            </a:r>
            <a:r>
              <a:rPr lang="en-US" altLang="ko-KR" dirty="0"/>
              <a:t>- ID: 55 , Email: </a:t>
            </a:r>
            <a:r>
              <a:rPr lang="en-US" altLang="ko-KR" dirty="0">
                <a:hlinkClick r:id="rId3"/>
              </a:rPr>
              <a:t>hammy447@gmail.com</a:t>
            </a:r>
            <a:endParaRPr lang="en-US" altLang="ko-KR" dirty="0"/>
          </a:p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[DB] </a:t>
            </a:r>
            <a:r>
              <a:rPr lang="ko-KR" altLang="en-US" dirty="0">
                <a:solidFill>
                  <a:srgbClr val="0000FF"/>
                </a:solidFill>
              </a:rPr>
              <a:t>기본 프로필 생성 </a:t>
            </a:r>
            <a:r>
              <a:rPr lang="en-US" altLang="ko-KR" dirty="0">
                <a:solidFill>
                  <a:srgbClr val="0000FF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SQL: INSERT INTO </a:t>
            </a:r>
            <a:r>
              <a:rPr lang="en-US" altLang="ko-KR" dirty="0" err="1">
                <a:solidFill>
                  <a:srgbClr val="0000FF"/>
                </a:solidFill>
              </a:rPr>
              <a:t>user_profiles</a:t>
            </a:r>
            <a:r>
              <a:rPr lang="en-US" altLang="ko-KR" dirty="0">
                <a:solidFill>
                  <a:srgbClr val="0000FF"/>
                </a:solidFill>
              </a:rPr>
              <a:t> (</a:t>
            </a:r>
            <a:r>
              <a:rPr lang="en-US" altLang="ko-KR" dirty="0" err="1">
                <a:solidFill>
                  <a:srgbClr val="0000FF"/>
                </a:solidFill>
              </a:rPr>
              <a:t>user_id</a:t>
            </a:r>
            <a:r>
              <a:rPr lang="en-US" altLang="ko-KR" dirty="0">
                <a:solidFill>
                  <a:srgbClr val="0000FF"/>
                </a:solidFill>
              </a:rPr>
              <a:t>, skills, experience, </a:t>
            </a:r>
            <a:r>
              <a:rPr lang="en-US" altLang="ko-KR" dirty="0" err="1">
                <a:solidFill>
                  <a:srgbClr val="0000FF"/>
                </a:solidFill>
              </a:rPr>
              <a:t>preferred_regions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preferred_jobs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expected_salary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created_at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updated_at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VALUES (?, ?, ?, ?, ?, ?, NOW(), NOW())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Params: [55,"[\"Java\",\"Spring\",\"MySQL\",\"Node.js\",\"AWS\"]","</a:t>
            </a:r>
            <a:r>
              <a:rPr lang="ko-KR" altLang="en-US" dirty="0">
                <a:solidFill>
                  <a:srgbClr val="0000FF"/>
                </a:solidFill>
              </a:rPr>
              <a:t>신입</a:t>
            </a:r>
            <a:r>
              <a:rPr lang="en-US" altLang="ko-KR" dirty="0">
                <a:solidFill>
                  <a:srgbClr val="0000FF"/>
                </a:solidFill>
              </a:rPr>
              <a:t>","[\"</a:t>
            </a:r>
            <a:r>
              <a:rPr lang="ko-KR" altLang="en-US" dirty="0">
                <a:solidFill>
                  <a:srgbClr val="0000FF"/>
                </a:solidFill>
              </a:rPr>
              <a:t>서울</a:t>
            </a:r>
            <a:r>
              <a:rPr lang="en-US" altLang="ko-KR" dirty="0">
                <a:solidFill>
                  <a:srgbClr val="0000FF"/>
                </a:solidFill>
              </a:rPr>
              <a:t>\",\"</a:t>
            </a:r>
            <a:r>
              <a:rPr lang="ko-KR" altLang="en-US" dirty="0">
                <a:solidFill>
                  <a:srgbClr val="0000FF"/>
                </a:solidFill>
              </a:rPr>
              <a:t>경기</a:t>
            </a:r>
            <a:r>
              <a:rPr lang="en-US" altLang="ko-KR" dirty="0">
                <a:solidFill>
                  <a:srgbClr val="0000FF"/>
                </a:solidFill>
              </a:rPr>
              <a:t>\"]","</a:t>
            </a:r>
            <a:r>
              <a:rPr lang="ko-KR" altLang="en-US" dirty="0" err="1">
                <a:solidFill>
                  <a:srgbClr val="0000FF"/>
                </a:solidFill>
              </a:rPr>
              <a:t>백엔드</a:t>
            </a:r>
            <a:r>
              <a:rPr lang="ko-KR" altLang="en-US" dirty="0">
                <a:solidFill>
                  <a:srgbClr val="0000FF"/>
                </a:solidFill>
              </a:rPr>
              <a:t> 개발자</a:t>
            </a:r>
            <a:r>
              <a:rPr lang="en-US" altLang="ko-KR" dirty="0">
                <a:solidFill>
                  <a:srgbClr val="0000FF"/>
                </a:solidFill>
              </a:rPr>
              <a:t>","3000</a:t>
            </a:r>
            <a:r>
              <a:rPr lang="ko-KR" altLang="en-US" dirty="0">
                <a:solidFill>
                  <a:srgbClr val="0000FF"/>
                </a:solidFill>
              </a:rPr>
              <a:t>만원 이상</a:t>
            </a:r>
            <a:r>
              <a:rPr lang="en-US" altLang="ko-KR" dirty="0">
                <a:solidFill>
                  <a:srgbClr val="0000FF"/>
                </a:solidFill>
              </a:rPr>
              <a:t>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기본 프로필 생성 완료</a:t>
            </a:r>
            <a:r>
              <a:rPr lang="en-US" altLang="ko-KR" dirty="0"/>
              <a:t>: </a:t>
            </a:r>
            <a:r>
              <a:rPr lang="ko-KR" altLang="en-US" dirty="0" err="1"/>
              <a:t>백엔드</a:t>
            </a:r>
            <a:r>
              <a:rPr lang="ko-KR" altLang="en-US" dirty="0"/>
              <a:t> 개발자</a:t>
            </a:r>
          </a:p>
        </p:txBody>
      </p:sp>
    </p:spTree>
    <p:extLst>
      <p:ext uri="{BB962C8B-B14F-4D97-AF65-F5344CB8AC3E}">
        <p14:creationId xmlns:p14="http://schemas.microsoft.com/office/powerpoint/2010/main" val="221691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7856-B401-2FB5-5091-54578525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921AB-63CB-325E-5B16-95052CDC6B1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DB009-5C1D-9652-BB4D-6449D1A5BA74}"/>
              </a:ext>
            </a:extLst>
          </p:cNvPr>
          <p:cNvSpPr txBox="1"/>
          <p:nvPr/>
        </p:nvSpPr>
        <p:spPr>
          <a:xfrm>
            <a:off x="315936" y="661873"/>
            <a:ext cx="346548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사전에 정의된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백엔드개발자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</a:t>
            </a: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개발자로 랜덤 생성됨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1B643-8761-345C-A99A-C71CDF708442}"/>
              </a:ext>
            </a:extLst>
          </p:cNvPr>
          <p:cNvSpPr txBox="1"/>
          <p:nvPr/>
        </p:nvSpPr>
        <p:spPr>
          <a:xfrm>
            <a:off x="3352797" y="688998"/>
            <a:ext cx="30313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카테고리별 채용공고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샘플 조회할 수 있고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전체 채용공고를 조회 가능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BD6EB-4D33-922B-CF64-7FBB1684D5F4}"/>
              </a:ext>
            </a:extLst>
          </p:cNvPr>
          <p:cNvSpPr txBox="1"/>
          <p:nvPr/>
        </p:nvSpPr>
        <p:spPr>
          <a:xfrm>
            <a:off x="6281182" y="679815"/>
            <a:ext cx="333446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전체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59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60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jobs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 생성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조회 속도 고려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AA7EE2-EF96-88AA-B7FB-8AF99A5C7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4" y="1640700"/>
            <a:ext cx="2848704" cy="47695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ECB9B1-C9A1-51F9-0B45-40F39B56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90" y="1839557"/>
            <a:ext cx="2927692" cy="45491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7B235F9-6E46-2672-D38B-ECBD76EA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127" y="1847175"/>
            <a:ext cx="3231524" cy="45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BCE8-F5C9-AE40-A9A0-39071F1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78B01-7A80-0282-E507-9C4AF392B416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2EA56-3899-680D-E2A6-D87EE2153F90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상세 보기 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48E02-200D-18C8-FD0C-69ADAD1A674D}"/>
              </a:ext>
            </a:extLst>
          </p:cNvPr>
          <p:cNvSpPr txBox="1"/>
          <p:nvPr/>
        </p:nvSpPr>
        <p:spPr>
          <a:xfrm>
            <a:off x="3352797" y="688998"/>
            <a:ext cx="337073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원본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원본 채용공고 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원본 채용공고 페이지로 연결됨 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C63B7A-6DB2-C8CC-9E58-A0D20449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1119742"/>
            <a:ext cx="3052410" cy="52487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D87629-F8E0-6AC4-5F28-ED8A5EFCB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98" y="1620216"/>
            <a:ext cx="2810127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1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B042-EF64-9DE0-8EEF-F9A6078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906AC-071A-AF24-4261-D422AEC3B0BB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23189-6117-98C5-CE5B-67E16E2939D3}"/>
              </a:ext>
            </a:extLst>
          </p:cNvPr>
          <p:cNvSpPr txBox="1"/>
          <p:nvPr/>
        </p:nvSpPr>
        <p:spPr>
          <a:xfrm>
            <a:off x="315936" y="661873"/>
            <a:ext cx="9590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8-1. 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사용자 이력서와 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DB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저장된 채용공고를 참고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맞춤형 채용공고 추천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C3C1A0-0C71-C64B-364D-50987CA3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7" y="1118045"/>
            <a:ext cx="5303277" cy="543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77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54E1-9EB1-7FA0-86CB-93A43075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079A27-F264-B148-20E1-9C733742286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BAD1E-8B1E-121B-6BE7-6096119CC5F2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8DAB0-D8C9-515E-9670-369ABE83F2D1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[MAIN-RECS] DB</a:t>
            </a:r>
            <a:r>
              <a:rPr lang="ko-KR" altLang="en-US" sz="1200" dirty="0"/>
              <a:t>에서 채용공고 조회 중</a:t>
            </a:r>
            <a:r>
              <a:rPr lang="en-US" altLang="ko-KR" sz="1200" dirty="0"/>
              <a:t>...</a:t>
            </a:r>
          </a:p>
          <a:p>
            <a:pPr fontAlgn="t" latinLnBrk="1"/>
            <a:r>
              <a:rPr lang="en-US" altLang="ko-KR" sz="1200" dirty="0"/>
              <a:t>[MAIN-RECS] DB</a:t>
            </a:r>
            <a:r>
              <a:rPr lang="ko-KR" altLang="en-US" sz="1200" dirty="0"/>
              <a:t>에서 </a:t>
            </a:r>
            <a:r>
              <a:rPr lang="en-US" altLang="ko-KR" sz="1200" dirty="0"/>
              <a:t>100</a:t>
            </a:r>
            <a:r>
              <a:rPr lang="ko-KR" altLang="en-US" sz="1200" dirty="0"/>
              <a:t>개 공고 가져옴 </a:t>
            </a:r>
            <a:r>
              <a:rPr lang="en-US" altLang="ko-KR" sz="1200" dirty="0"/>
              <a:t>(IT/</a:t>
            </a:r>
            <a:r>
              <a:rPr lang="ko-KR" altLang="en-US" sz="1200" dirty="0"/>
              <a:t>빅데이터</a:t>
            </a:r>
            <a:r>
              <a:rPr lang="en-US" altLang="ko-KR" sz="1200" dirty="0"/>
              <a:t>AI)</a:t>
            </a:r>
          </a:p>
          <a:p>
            <a:pPr fontAlgn="t" latinLnBrk="1"/>
            <a:r>
              <a:rPr lang="en-US" altLang="ko-KR" sz="1200" dirty="0"/>
              <a:t>[MAIN-RECS] GPT-5-mini </a:t>
            </a:r>
            <a:r>
              <a:rPr lang="ko-KR" altLang="en-US" sz="1200" dirty="0"/>
              <a:t>기반 추천 시작</a:t>
            </a:r>
            <a:endParaRPr lang="en-US" altLang="ko-KR" sz="1200" dirty="0"/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[AI</a:t>
            </a:r>
            <a:r>
              <a:rPr lang="ko-KR" altLang="en-US" sz="1200" dirty="0"/>
              <a:t>추천</a:t>
            </a:r>
            <a:r>
              <a:rPr lang="en-US" altLang="ko-KR" sz="1200" dirty="0"/>
              <a:t>] GPT-5-mini Prompt:</a:t>
            </a:r>
          </a:p>
          <a:p>
            <a:pPr fontAlgn="t" latinLnBrk="1"/>
            <a:r>
              <a:rPr lang="ko-KR" altLang="en-US" sz="1200" dirty="0"/>
              <a:t>당신은 전문 채용 컨설턴트입니다</a:t>
            </a:r>
            <a:r>
              <a:rPr lang="en-US" altLang="ko-KR" sz="1200" dirty="0"/>
              <a:t>. </a:t>
            </a:r>
            <a:r>
              <a:rPr lang="ko-KR" altLang="en-US" sz="1200" dirty="0"/>
              <a:t>다음 사용자 프로필을 바탕으로 채용공고를 추천해주세요</a:t>
            </a:r>
            <a:r>
              <a:rPr lang="en-US" altLang="ko-KR" sz="1200" dirty="0"/>
              <a:t>.</a:t>
            </a:r>
          </a:p>
          <a:p>
            <a:pPr fontAlgn="t" latinLnBrk="1"/>
            <a:r>
              <a:rPr lang="en-US" altLang="ko-KR" sz="1200" dirty="0"/>
              <a:t>**</a:t>
            </a:r>
            <a:r>
              <a:rPr lang="ko-KR" altLang="en-US" sz="1200" dirty="0"/>
              <a:t>사용자 프로필</a:t>
            </a:r>
            <a:r>
              <a:rPr lang="en-US" altLang="ko-KR" sz="1200" dirty="0"/>
              <a:t>:**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기술 스킬</a:t>
            </a:r>
            <a:r>
              <a:rPr lang="en-US" altLang="ko-KR" sz="1200" dirty="0"/>
              <a:t>: Java, Spring, MySQL, Node.js, AWS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경력</a:t>
            </a:r>
            <a:r>
              <a:rPr lang="en-US" altLang="ko-KR" sz="1200" dirty="0"/>
              <a:t>: </a:t>
            </a:r>
            <a:r>
              <a:rPr lang="ko-KR" altLang="en-US" sz="1200" dirty="0"/>
              <a:t>신입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선호 지역</a:t>
            </a:r>
            <a:r>
              <a:rPr lang="en-US" altLang="ko-KR" sz="1200" dirty="0"/>
              <a:t>: </a:t>
            </a:r>
            <a:r>
              <a:rPr lang="ko-KR" altLang="en-US" sz="1200" dirty="0"/>
              <a:t>서울</a:t>
            </a:r>
            <a:r>
              <a:rPr lang="en-US" altLang="ko-KR" sz="1200" dirty="0"/>
              <a:t>, </a:t>
            </a:r>
            <a:r>
              <a:rPr lang="ko-KR" altLang="en-US" sz="1200" dirty="0"/>
              <a:t>경기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직무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백엔드</a:t>
            </a:r>
            <a:r>
              <a:rPr lang="ko-KR" altLang="en-US" sz="1200" dirty="0"/>
              <a:t> 개발자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급여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회사내규에</a:t>
            </a:r>
            <a:r>
              <a:rPr lang="ko-KR" altLang="en-US" sz="1200" dirty="0"/>
              <a:t> 따름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연봉</a:t>
            </a:r>
            <a:r>
              <a:rPr lang="en-US" altLang="ko-KR" sz="1200" dirty="0"/>
              <a:t>: 3000.00</a:t>
            </a:r>
            <a:r>
              <a:rPr lang="ko-KR" altLang="en-US" sz="1200" dirty="0"/>
              <a:t>만원</a:t>
            </a:r>
          </a:p>
          <a:p>
            <a:pPr fontAlgn="t" latinLnBrk="1"/>
            <a:r>
              <a:rPr lang="en-US" altLang="ko-KR" sz="1200" dirty="0"/>
              <a:t>- Job ID: 64</a:t>
            </a: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**</a:t>
            </a:r>
            <a:r>
              <a:rPr lang="ko-KR" altLang="en-US" sz="1200" dirty="0"/>
              <a:t>채용공고 목록</a:t>
            </a:r>
            <a:r>
              <a:rPr lang="en-US" altLang="ko-KR" sz="1200" dirty="0"/>
              <a:t>:**</a:t>
            </a:r>
          </a:p>
          <a:p>
            <a:pPr fontAlgn="t" latinLnBrk="1"/>
            <a:r>
              <a:rPr lang="en-US" altLang="ko-KR" sz="1200" dirty="0"/>
              <a:t>1. </a:t>
            </a:r>
            <a:r>
              <a:rPr lang="ko-KR" altLang="en-US" sz="1200" dirty="0"/>
              <a:t>데이터 분석 플랫폼 개발 및 운영</a:t>
            </a:r>
            <a:r>
              <a:rPr lang="en-US" altLang="ko-KR" sz="1200" dirty="0"/>
              <a:t>(Data Engineer) </a:t>
            </a:r>
            <a:r>
              <a:rPr lang="ko-KR" altLang="en-US" sz="1200" dirty="0"/>
              <a:t>채용 </a:t>
            </a:r>
            <a:r>
              <a:rPr lang="en-US" altLang="ko-KR" sz="1200" dirty="0"/>
              <a:t>at CJ</a:t>
            </a:r>
            <a:r>
              <a:rPr lang="ko-KR" altLang="en-US" sz="1200" dirty="0" err="1"/>
              <a:t>올리브네트웍스</a:t>
            </a:r>
            <a:endParaRPr lang="ko-KR" altLang="en-US" sz="1200" dirty="0"/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요구 기술</a:t>
            </a:r>
            <a:r>
              <a:rPr lang="en-US" altLang="ko-KR" sz="1200" dirty="0"/>
              <a:t>: </a:t>
            </a:r>
            <a:r>
              <a:rPr lang="ko-KR" altLang="en-US" sz="1200" dirty="0"/>
              <a:t>네트워크</a:t>
            </a:r>
            <a:r>
              <a:rPr lang="en-US" altLang="ko-KR" sz="1200" dirty="0"/>
              <a:t>/</a:t>
            </a:r>
            <a:r>
              <a:rPr lang="ko-KR" altLang="en-US" sz="1200" dirty="0"/>
              <a:t>서버</a:t>
            </a:r>
            <a:r>
              <a:rPr lang="en-US" altLang="ko-KR" sz="1200" dirty="0"/>
              <a:t>/</a:t>
            </a:r>
            <a:r>
              <a:rPr lang="ko-KR" altLang="en-US" sz="1200" dirty="0"/>
              <a:t>보안</a:t>
            </a:r>
            <a:r>
              <a:rPr lang="en-US" altLang="ko-KR" sz="1200" dirty="0"/>
              <a:t>, </a:t>
            </a:r>
            <a:r>
              <a:rPr lang="ko-KR" altLang="en-US" sz="1200" dirty="0"/>
              <a:t>빅데이터</a:t>
            </a:r>
            <a:r>
              <a:rPr lang="en-US" altLang="ko-KR" sz="1200" dirty="0"/>
              <a:t>/AI, </a:t>
            </a:r>
            <a:r>
              <a:rPr lang="ko-KR" altLang="en-US" sz="1200" dirty="0"/>
              <a:t>응용프로그램개발 외</a:t>
            </a:r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경력 요건</a:t>
            </a:r>
            <a:r>
              <a:rPr lang="en-US" altLang="ko-KR" sz="1200" dirty="0"/>
              <a:t>: </a:t>
            </a:r>
            <a:r>
              <a:rPr lang="ko-KR" altLang="en-US" sz="1200" dirty="0"/>
              <a:t>경력</a:t>
            </a:r>
            <a:r>
              <a:rPr lang="en-US" altLang="ko-KR" sz="1200" dirty="0"/>
              <a:t>3</a:t>
            </a:r>
            <a:r>
              <a:rPr lang="ko-KR" altLang="en-US" sz="1200" dirty="0"/>
              <a:t>년↑</a:t>
            </a:r>
            <a:endParaRPr lang="en-US" altLang="ko-KR" sz="1200" dirty="0"/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ko-KR" altLang="en-US" sz="1200" dirty="0"/>
              <a:t>각 공고에 대해 </a:t>
            </a:r>
            <a:r>
              <a:rPr lang="ko-KR" altLang="en-US" sz="1200" dirty="0" err="1"/>
              <a:t>매칭도를</a:t>
            </a:r>
            <a:r>
              <a:rPr lang="ko-KR" altLang="en-US" sz="1200" dirty="0"/>
              <a:t> 분석하고</a:t>
            </a:r>
            <a:r>
              <a:rPr lang="en-US" altLang="ko-KR" sz="1200" dirty="0"/>
              <a:t>, </a:t>
            </a:r>
            <a:r>
              <a:rPr lang="ko-KR" altLang="en-US" sz="1200" dirty="0"/>
              <a:t>상위 </a:t>
            </a:r>
            <a:r>
              <a:rPr lang="en-US" altLang="ko-KR" sz="1200" dirty="0"/>
              <a:t>6</a:t>
            </a:r>
            <a:r>
              <a:rPr lang="ko-KR" altLang="en-US" sz="1200" dirty="0"/>
              <a:t>개를 추천해주세요</a:t>
            </a:r>
            <a:r>
              <a:rPr lang="en-US" altLang="ko-KR" sz="1200" dirty="0"/>
              <a:t>.</a:t>
            </a:r>
          </a:p>
          <a:p>
            <a:pPr fontAlgn="t" latinLnBrk="1"/>
            <a:r>
              <a:rPr lang="ko-KR" altLang="en-US" sz="1200" dirty="0"/>
              <a:t>분석 기준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기술매칭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경력매칭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지역매칭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직무매칭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급여매칭</a:t>
            </a:r>
            <a:endParaRPr lang="en-US" altLang="ko-KR" sz="1200" dirty="0"/>
          </a:p>
          <a:p>
            <a:pPr fontAlgn="t" latinLnBrk="1"/>
            <a:r>
              <a:rPr lang="ko-KR" altLang="en-US" sz="1200" dirty="0"/>
              <a:t>응답은 반드시 다음 </a:t>
            </a:r>
            <a:r>
              <a:rPr lang="en-US" altLang="ko-KR" sz="1200" dirty="0"/>
              <a:t>JSON </a:t>
            </a:r>
            <a:r>
              <a:rPr lang="ko-KR" altLang="en-US" sz="1200" dirty="0"/>
              <a:t>형식으로 해주세요 </a:t>
            </a:r>
            <a:r>
              <a:rPr lang="en-US" altLang="ko-KR" sz="1200" dirty="0"/>
              <a:t>(JSON object with recommendations array):</a:t>
            </a: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[GPT-5] </a:t>
            </a:r>
            <a:r>
              <a:rPr lang="ko-KR" altLang="en-US" sz="1200" dirty="0"/>
              <a:t>파싱 성공</a:t>
            </a:r>
            <a:r>
              <a:rPr lang="en-US" altLang="ko-KR" sz="1200" dirty="0"/>
              <a:t>: 6</a:t>
            </a:r>
            <a:r>
              <a:rPr lang="ko-KR" altLang="en-US" sz="1200" dirty="0"/>
              <a:t>개 추천</a:t>
            </a:r>
          </a:p>
          <a:p>
            <a:pPr fontAlgn="t" latinLnBrk="1"/>
            <a:r>
              <a:rPr lang="en-US" altLang="ko-KR" sz="1200" dirty="0"/>
              <a:t>[MAIN-RECS] ✅ GPT-5-mini</a:t>
            </a:r>
            <a:r>
              <a:rPr lang="ko-KR" altLang="en-US" sz="1200" dirty="0"/>
              <a:t>로 </a:t>
            </a:r>
            <a:r>
              <a:rPr lang="en-US" altLang="ko-KR" sz="1200" dirty="0"/>
              <a:t>6</a:t>
            </a:r>
            <a:r>
              <a:rPr lang="ko-KR" altLang="en-US" sz="1200" dirty="0"/>
              <a:t>개 공고 추천 완료</a:t>
            </a:r>
          </a:p>
          <a:p>
            <a:pPr fontAlgn="t" latinLnBrk="1"/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51447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858A-B277-7B49-D81D-8B5F933C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78A82-A463-3995-17ED-8B58B94C7727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A837E-01E9-A915-1056-2329C856971B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</a:t>
            </a:r>
            <a:endParaRPr lang="ko-KR" altLang="en-US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8EBBBB-F5F3-C8E1-0F57-F1E5E943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8"/>
            <a:ext cx="5119334" cy="55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7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7FEF-1CEE-58C5-0BFE-66AB4D06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6D1A9-C3FF-2B05-21BB-015BA4EE97E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5C11E7-E9F7-6C22-87CD-7F7D26ED6E07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3DD96-11A1-B660-405A-B79B5DD0573D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ㅇㅇㅇ</a:t>
            </a:r>
            <a:endParaRPr lang="ko-KR" alt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9899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FF-68F7-00C3-AEC8-AA299619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CF17E-C2A7-59A8-5CC4-48642DB8C8A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32AC0-74FE-75D4-EB2B-1FB764C624A9}"/>
              </a:ext>
            </a:extLst>
          </p:cNvPr>
          <p:cNvSpPr txBox="1"/>
          <p:nvPr/>
        </p:nvSpPr>
        <p:spPr>
          <a:xfrm>
            <a:off x="315936" y="661873"/>
            <a:ext cx="44560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catch.co.kr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기출질문</a:t>
            </a: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E9AB11-5CAD-5233-3979-E1BB4DD1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9"/>
            <a:ext cx="7612697" cy="550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3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1240</TotalTime>
  <Words>2404</Words>
  <Application>Microsoft Office PowerPoint</Application>
  <PresentationFormat>A4 용지(210x297mm)</PresentationFormat>
  <Paragraphs>303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64</cp:revision>
  <dcterms:created xsi:type="dcterms:W3CDTF">2025-10-08T14:40:45Z</dcterms:created>
  <dcterms:modified xsi:type="dcterms:W3CDTF">2025-10-09T11:21:38Z</dcterms:modified>
</cp:coreProperties>
</file>