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0" r:id="rId1"/>
  </p:sldMasterIdLst>
  <p:notesMasterIdLst>
    <p:notesMasterId r:id="rId20"/>
  </p:notesMasterIdLst>
  <p:sldIdLst>
    <p:sldId id="256" r:id="rId2"/>
    <p:sldId id="272" r:id="rId3"/>
    <p:sldId id="285" r:id="rId4"/>
    <p:sldId id="286" r:id="rId5"/>
    <p:sldId id="284" r:id="rId6"/>
    <p:sldId id="273" r:id="rId7"/>
    <p:sldId id="274" r:id="rId8"/>
    <p:sldId id="283" r:id="rId9"/>
    <p:sldId id="275" r:id="rId10"/>
    <p:sldId id="276" r:id="rId11"/>
    <p:sldId id="278" r:id="rId12"/>
    <p:sldId id="293" r:id="rId13"/>
    <p:sldId id="279" r:id="rId14"/>
    <p:sldId id="277" r:id="rId15"/>
    <p:sldId id="290" r:id="rId16"/>
    <p:sldId id="291" r:id="rId17"/>
    <p:sldId id="292" r:id="rId18"/>
    <p:sldId id="289" r:id="rId19"/>
  </p:sldIdLst>
  <p:sldSz cx="9906000" cy="6858000" type="A4"/>
  <p:notesSz cx="8229600" cy="14630400"/>
  <p:embeddedFontLst>
    <p:embeddedFont>
      <p:font typeface="한컴 고딕" panose="02000500000000000000" pitchFamily="2" charset="-127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FA83E0C-91C8-6C33-625A-EAD65F959BEC}" name="차민희" initials="차" userId="S::202221070@sangmyung.kr::f762825f-9120-40c0-a40f-5b021d9b57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D6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61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62" y="60"/>
      </p:cViewPr>
      <p:guideLst>
        <p:guide orient="horz" pos="2183"/>
        <p:guide pos="3120"/>
        <p:guide pos="21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35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39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1pPr>
    <a:lvl2pPr marL="399136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2pPr>
    <a:lvl3pPr marL="798271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3pPr>
    <a:lvl4pPr marL="1197407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4pPr>
    <a:lvl5pPr marL="1596542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5pPr>
    <a:lvl6pPr marL="1995678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6pPr>
    <a:lvl7pPr marL="2394814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7pPr>
    <a:lvl8pPr marL="2793949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8pPr>
    <a:lvl9pPr marL="3193085" algn="l" defTabSz="798271" rtl="0" eaLnBrk="1" latinLnBrk="1" hangingPunct="1">
      <a:defRPr sz="104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9AC5-BA04-32B9-8AB4-3E60D0F2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AFFA8-F743-4E60-1955-B542B5F23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84F0D-9053-99EE-EA5B-CA246FF8B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82E8E-E19D-EB33-C3B5-F8D4896187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682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97DD0-4C38-DEF2-CF16-A6F7EFB0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522C2-6765-491C-DCFD-630C56B99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236C44-9281-2464-1BB5-BA73EA303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C6456-A023-C4DA-83BD-9EE074FA6B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82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EDE7-C8CD-B086-9F21-D3B108BC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91CC4-C060-ADBC-2C74-4C38E2DA5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9DEB3-2C8D-6E49-0F8D-17BBDDCC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68E34-936A-B661-6250-B1FFCA88BB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76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0543D-18E6-47C6-EE6B-01504998C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1CA3E-6054-849A-4E47-AE89ABA74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9E191-11C2-5FE1-2E8F-F76FC3B32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5A6AA-C978-95AC-5157-CBF1812456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69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B5516-3143-011C-ECC3-10F34EBE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F34E2-2013-D79F-FBAE-8523412DD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08141-7AD5-D4C3-1FF5-EE8B805A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A3A3-91A3-5718-080C-42121DAB5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82EA-DD11-6239-7992-8F7C4AED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C0312-8739-6356-B5E1-DB03873BF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59C70-3B4A-7569-276A-22AD8E061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CA64E-AD8A-46B0-D2AF-C1313A051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3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D9F3-5D6A-8C71-0EAC-544B9483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6E08D-DF9E-F454-0032-E455FC7FB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60BA7-589C-9B7C-691C-1D4E35A54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BF598-453A-658F-BEFE-C84C01BBD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44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3770D-9CFB-F118-F89E-B517834C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86DEA-10D4-544C-37EB-61212770B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611FE-D1F6-08EA-B3A7-E7D7FD28E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DFA6D-63CB-44B4-720F-592FB538F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2D69-3377-6FDC-F3D8-B1A90EF66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4FE531-2BB9-949A-9506-9CF89631D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C3C5A-6857-1700-D3DB-95BBA624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E9343-254F-35A2-67B7-15136738A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31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DB4D-A83E-CB2B-8AE5-FA39FF09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F562B-01B4-352C-CF2F-3076FC6F5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9C094-B93F-04D6-6EEA-C4446EB1C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02431-FB12-C9A3-F185-B166B8B5E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68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CCC90-33D8-ED71-8D6C-30B4EB41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8A3856-890C-7261-FC4D-92A42BA41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03404-44E3-F1B9-697A-33F211A2A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CA0DA-87C8-CA1D-117B-6E0B6DD4D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61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23B8-9DA4-94CA-D9D0-466B00A6F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9F86D-ED3B-E709-FD1E-0F8611059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76983-0215-D004-31BE-43B859519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03F77-EFEE-D404-2392-5AD040C1B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596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C90E-0E15-FD5A-53F5-C4FD99AC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C22EE-F146-64FA-2EF7-FE45AE3CE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F00A5-48EA-A36D-26F5-2D81AB14A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A454D-DDA5-CD1A-D9D6-ACC0C9ACA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53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1CA6B-B51B-AB6B-CFC1-0C7C9E08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B6081-8462-6314-B0FA-566146A0A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DEB3D-09D1-CAAF-2DB0-2DED5E2D5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0D110-8DEA-272B-E301-46AEDDB57A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57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A2338-8CB8-1ED7-DE51-91CE2459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AFE29-035D-71FF-15F2-2A25A5EFC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E2C2D-3097-FD24-6833-481987566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C00C-C1A6-F9D9-9002-124E701A9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29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E4860-05E2-F9FE-E228-DE6ECE17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43E3A-C9F7-472C-6AB6-E52575578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40914-36D4-E3B2-C6F5-53C971954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FB747-857F-35F1-79BC-5A5A601C17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25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4E00F-3402-F867-0816-BF7A09DDA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DFD56-D7DB-5BB7-BB05-E25B8EB09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B9A95-8C70-F80E-264C-89D6F9BB3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2A0BD-9A26-1C91-A896-3F8739A485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66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31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414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223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99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0075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98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30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0980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047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723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807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28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C2BD19C-ED61-0B49-BA99-47F392C8E13E}"/>
              </a:ext>
            </a:extLst>
          </p:cNvPr>
          <p:cNvCxnSpPr>
            <a:cxnSpLocks/>
          </p:cNvCxnSpPr>
          <p:nvPr userDrawn="1"/>
        </p:nvCxnSpPr>
        <p:spPr>
          <a:xfrm>
            <a:off x="197672" y="486578"/>
            <a:ext cx="9510656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0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5725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6119" y="2438475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69"/>
              </a:lnSpc>
            </a:pPr>
            <a:r>
              <a:rPr lang="en-US" sz="556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CommitJob</a:t>
            </a:r>
            <a:endParaRPr lang="en-US" sz="556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4306120" y="3537124"/>
            <a:ext cx="39504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2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Medium" pitchFamily="34" charset="-120"/>
              </a:rPr>
              <a:t>AI 기반 맞춤형 취업 플랫폼</a:t>
            </a:r>
            <a:endParaRPr lang="en-US" sz="2782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06119" y="419271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GPT-5-mini를 활용한 채용공고 추천 및 면접 준비 지원 서비스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72408E7-59FA-0DC7-1355-D93456BCDA38}"/>
              </a:ext>
            </a:extLst>
          </p:cNvPr>
          <p:cNvSpPr/>
          <p:nvPr/>
        </p:nvSpPr>
        <p:spPr>
          <a:xfrm>
            <a:off x="7898405" y="5414042"/>
            <a:ext cx="171566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작성자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차민희</a:t>
            </a:r>
            <a:endParaRPr lang="en-US" altLang="ko-KR" sz="1094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ts val="1782"/>
              </a:lnSpc>
            </a:pPr>
            <a:r>
              <a:rPr lang="ko-KR" altLang="en-US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작성일 </a:t>
            </a:r>
            <a:r>
              <a:rPr lang="en-US" altLang="ko-KR" sz="1094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2025.10.12</a:t>
            </a:r>
            <a:endParaRPr lang="en-US" sz="1094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50E8C-931C-9A71-C0C1-4D165FB41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430533-CA0D-A145-27A1-3E97FC48A077}"/>
              </a:ext>
            </a:extLst>
          </p:cNvPr>
          <p:cNvSpPr/>
          <p:nvPr/>
        </p:nvSpPr>
        <p:spPr>
          <a:xfrm>
            <a:off x="3712698" y="1193076"/>
            <a:ext cx="2765631" cy="714102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CDEC1-6153-8EC7-46D5-3EC89224E304}"/>
              </a:ext>
            </a:extLst>
          </p:cNvPr>
          <p:cNvSpPr txBox="1"/>
          <p:nvPr/>
        </p:nvSpPr>
        <p:spPr>
          <a:xfrm>
            <a:off x="344487" y="588390"/>
            <a:ext cx="7612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3D6DC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dirty="0">
                <a:solidFill>
                  <a:srgbClr val="3D6DC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기반 맞춤형 취업 플랫폼 도메인 </a:t>
            </a:r>
            <a:r>
              <a:rPr lang="en-US" altLang="ko-KR" dirty="0">
                <a:solidFill>
                  <a:srgbClr val="3D6DC3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https://commitjob.site</a:t>
            </a:r>
            <a:endParaRPr lang="ko-KR" altLang="en-US" dirty="0">
              <a:solidFill>
                <a:srgbClr val="3D6DC3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33280-39A8-4089-48DE-A6E60AD8BC14}"/>
              </a:ext>
            </a:extLst>
          </p:cNvPr>
          <p:cNvSpPr txBox="1"/>
          <p:nvPr/>
        </p:nvSpPr>
        <p:spPr>
          <a:xfrm>
            <a:off x="3829598" y="1495662"/>
            <a:ext cx="1714405" cy="370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React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E3A572-0DB7-B0BA-89CC-44E50120FF82}"/>
              </a:ext>
            </a:extLst>
          </p:cNvPr>
          <p:cNvSpPr txBox="1"/>
          <p:nvPr/>
        </p:nvSpPr>
        <p:spPr>
          <a:xfrm>
            <a:off x="3917733" y="1183639"/>
            <a:ext cx="2430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Frontend (</a:t>
            </a:r>
            <a:r>
              <a:rPr lang="en-US" altLang="ko-KR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Vercel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5E7292-9934-0AE7-B955-E0C36EC626C2}"/>
              </a:ext>
            </a:extLst>
          </p:cNvPr>
          <p:cNvSpPr/>
          <p:nvPr/>
        </p:nvSpPr>
        <p:spPr>
          <a:xfrm>
            <a:off x="3058459" y="2423537"/>
            <a:ext cx="4080251" cy="1422314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E0AA3B-8705-747A-48B0-E1C042E624B7}"/>
              </a:ext>
            </a:extLst>
          </p:cNvPr>
          <p:cNvSpPr txBox="1"/>
          <p:nvPr/>
        </p:nvSpPr>
        <p:spPr>
          <a:xfrm>
            <a:off x="3137730" y="2828729"/>
            <a:ext cx="3588477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Node.js</a:t>
            </a: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OpenAI API (GPT)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호출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MySQL (RDS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연결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8A9C00-9F89-C00A-915F-7FE7247F156E}"/>
              </a:ext>
            </a:extLst>
          </p:cNvPr>
          <p:cNvSpPr txBox="1"/>
          <p:nvPr/>
        </p:nvSpPr>
        <p:spPr>
          <a:xfrm>
            <a:off x="3058460" y="2485014"/>
            <a:ext cx="4080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Backend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API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Server </a:t>
            </a:r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서비스</a:t>
            </a:r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(Railway)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75B08B7-8F92-88A5-F27E-79108523FF83}"/>
              </a:ext>
            </a:extLst>
          </p:cNvPr>
          <p:cNvSpPr/>
          <p:nvPr/>
        </p:nvSpPr>
        <p:spPr>
          <a:xfrm>
            <a:off x="233883" y="4372535"/>
            <a:ext cx="5194901" cy="211716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C17E9A-6464-42C9-F4A7-B7CB2CC56081}"/>
              </a:ext>
            </a:extLst>
          </p:cNvPr>
          <p:cNvSpPr txBox="1"/>
          <p:nvPr/>
        </p:nvSpPr>
        <p:spPr>
          <a:xfrm>
            <a:off x="479612" y="4413473"/>
            <a:ext cx="4316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AWS MySQL RDS (DB)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189DB2-6D0E-2107-4700-D5D36F5A9EE6}"/>
              </a:ext>
            </a:extLst>
          </p:cNvPr>
          <p:cNvSpPr/>
          <p:nvPr/>
        </p:nvSpPr>
        <p:spPr>
          <a:xfrm>
            <a:off x="5638238" y="4372535"/>
            <a:ext cx="4080250" cy="211716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B36A74-9D7C-9709-8394-BDC5345F70DE}"/>
              </a:ext>
            </a:extLst>
          </p:cNvPr>
          <p:cNvSpPr txBox="1"/>
          <p:nvPr/>
        </p:nvSpPr>
        <p:spPr>
          <a:xfrm>
            <a:off x="5692591" y="4730293"/>
            <a:ext cx="4025896" cy="1184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Python (catch.co.kr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스크래핑</a:t>
            </a:r>
            <a:r>
              <a:rPr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최근 채용정보를 실시간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스크래핑하여</a:t>
            </a:r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AWS MySQL Jobs </a:t>
            </a:r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  <a:endParaRPr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회사별 기출 면접질문을 실시간 </a:t>
            </a:r>
            <a:r>
              <a:rPr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스크래핑</a:t>
            </a:r>
            <a:endParaRPr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A4F685-97DA-6EC3-E922-706BAD7549F6}"/>
              </a:ext>
            </a:extLst>
          </p:cNvPr>
          <p:cNvSpPr txBox="1"/>
          <p:nvPr/>
        </p:nvSpPr>
        <p:spPr>
          <a:xfrm>
            <a:off x="5638238" y="4413473"/>
            <a:ext cx="40802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Backend Catch Scraper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서비스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(Railway)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FBB1EEF-4F2A-7C91-91CA-E07AFF03DCC5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>
            <a:off x="5095514" y="1907178"/>
            <a:ext cx="3071" cy="51635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E36453A-D4FB-906C-7C51-F6AB7BEF6FE9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flipH="1">
            <a:off x="2831334" y="3845851"/>
            <a:ext cx="2267251" cy="52668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4C35070-2C95-1A94-FBF1-E7294837F343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>
            <a:off x="5098585" y="3845851"/>
            <a:ext cx="2579778" cy="52668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1D4FCAE-627F-55D0-B9AE-32F73D43F84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</a:t>
            </a:r>
            <a:r>
              <a:rPr lang="en-US" altLang="ko-KR" sz="1300" dirty="0"/>
              <a:t>-1</a:t>
            </a:r>
            <a:r>
              <a:rPr lang="en-US" altLang="ko-KR" dirty="0"/>
              <a:t>. </a:t>
            </a:r>
            <a:r>
              <a:rPr lang="ko-KR" altLang="en-US" dirty="0"/>
              <a:t>시스템 아키텍처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02058A5-890E-BB02-C91D-FDC9FB2657B5}"/>
              </a:ext>
            </a:extLst>
          </p:cNvPr>
          <p:cNvSpPr/>
          <p:nvPr/>
        </p:nvSpPr>
        <p:spPr>
          <a:xfrm>
            <a:off x="469900" y="2438047"/>
            <a:ext cx="2261910" cy="1407804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21DA6B-840A-E023-A947-65916B2D9D77}"/>
              </a:ext>
            </a:extLst>
          </p:cNvPr>
          <p:cNvSpPr txBox="1"/>
          <p:nvPr/>
        </p:nvSpPr>
        <p:spPr>
          <a:xfrm>
            <a:off x="477531" y="2843239"/>
            <a:ext cx="239781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추천</a:t>
            </a:r>
            <a:endParaRPr lang="en-US" altLang="ko-KR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면접질문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모범답변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답변 피드백 생성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140020-4B45-89D1-1839-691DAFF639C9}"/>
              </a:ext>
            </a:extLst>
          </p:cNvPr>
          <p:cNvSpPr txBox="1"/>
          <p:nvPr/>
        </p:nvSpPr>
        <p:spPr>
          <a:xfrm>
            <a:off x="782012" y="2499524"/>
            <a:ext cx="139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EB33274-8643-9E8F-9BEF-7B519A766F66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2731810" y="3134694"/>
            <a:ext cx="326649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D9165C9-4B09-C313-1848-68B31A40DCAB}"/>
              </a:ext>
            </a:extLst>
          </p:cNvPr>
          <p:cNvSpPr txBox="1"/>
          <p:nvPr/>
        </p:nvSpPr>
        <p:spPr>
          <a:xfrm>
            <a:off x="2540500" y="4843532"/>
            <a:ext cx="2885214" cy="370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marR="0" lvl="0" indent="-125413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User_Profiles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회원 이력서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)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FE87319-D50E-5FD7-4C8A-71B741A88141}"/>
              </a:ext>
            </a:extLst>
          </p:cNvPr>
          <p:cNvSpPr/>
          <p:nvPr/>
        </p:nvSpPr>
        <p:spPr>
          <a:xfrm>
            <a:off x="7464846" y="2438047"/>
            <a:ext cx="2144799" cy="1366866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3ED5B8-898F-E84A-ADB4-B3EEB105A693}"/>
              </a:ext>
            </a:extLst>
          </p:cNvPr>
          <p:cNvSpPr txBox="1"/>
          <p:nvPr/>
        </p:nvSpPr>
        <p:spPr>
          <a:xfrm>
            <a:off x="7517183" y="2831585"/>
            <a:ext cx="194132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600" u="sng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대량 </a:t>
            </a:r>
            <a:r>
              <a:rPr lang="ko-KR" altLang="en-US" sz="1600" u="sng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스크래핑하여</a:t>
            </a:r>
            <a:endParaRPr lang="en-US" altLang="ko-KR" sz="1600" u="sng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AWS MySQL </a:t>
            </a:r>
          </a:p>
          <a:p>
            <a:pPr>
              <a:lnSpc>
                <a:spcPct val="12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insert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263934-75D6-6EB4-50C6-77F0BA97DC00}"/>
              </a:ext>
            </a:extLst>
          </p:cNvPr>
          <p:cNvSpPr txBox="1"/>
          <p:nvPr/>
        </p:nvSpPr>
        <p:spPr>
          <a:xfrm>
            <a:off x="7517183" y="2485014"/>
            <a:ext cx="2040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</a:t>
            </a:r>
            <a:r>
              <a:rPr lang="ko-KR" altLang="en-US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배치작업</a:t>
            </a: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C738AB0F-09C8-EA47-EB42-E06339DE0EC8}"/>
              </a:ext>
            </a:extLst>
          </p:cNvPr>
          <p:cNvCxnSpPr>
            <a:cxnSpLocks/>
          </p:cNvCxnSpPr>
          <p:nvPr/>
        </p:nvCxnSpPr>
        <p:spPr>
          <a:xfrm flipH="1">
            <a:off x="7138197" y="3152443"/>
            <a:ext cx="326649" cy="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1B06BE9-F668-8B7F-06A0-3386F2BDEF22}"/>
              </a:ext>
            </a:extLst>
          </p:cNvPr>
          <p:cNvSpPr txBox="1"/>
          <p:nvPr/>
        </p:nvSpPr>
        <p:spPr>
          <a:xfrm>
            <a:off x="187512" y="4846834"/>
            <a:ext cx="5679888" cy="1552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Users (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회원 정보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Jobs (</a:t>
            </a:r>
            <a:r>
              <a:rPr lang="ko-KR" altLang="en-US" sz="1600" b="1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스크래핑한</a:t>
            </a:r>
            <a:r>
              <a:rPr lang="ko-KR" altLang="en-US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</a:t>
            </a: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en-US" altLang="ko-KR" sz="16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1,230</a:t>
            </a:r>
            <a:r>
              <a:rPr lang="ko-KR" altLang="en-US" sz="16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endParaRPr lang="en-US" altLang="ko-KR" sz="1600" b="1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catch_companies</a:t>
            </a: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(</a:t>
            </a:r>
            <a:r>
              <a:rPr lang="ko-KR" altLang="en-US" sz="1600" b="1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스크래핑한</a:t>
            </a:r>
            <a:r>
              <a:rPr lang="ko-KR" altLang="en-US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기업정보</a:t>
            </a: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  </a:t>
            </a:r>
            <a:r>
              <a:rPr lang="en-US" altLang="ko-KR" sz="16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260</a:t>
            </a:r>
            <a:r>
              <a:rPr lang="ko-KR" altLang="en-US" sz="16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endParaRPr lang="en-US" altLang="ko-KR" sz="1600" b="1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catch_review</a:t>
            </a: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(</a:t>
            </a:r>
            <a:r>
              <a:rPr lang="ko-KR" altLang="en-US" sz="1600" b="1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스크래핑한</a:t>
            </a:r>
            <a:r>
              <a:rPr lang="ko-KR" altLang="en-US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회사 리뷰</a:t>
            </a: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catch_interview_questions</a:t>
            </a: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600" b="1" dirty="0" err="1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스크래핑한</a:t>
            </a:r>
            <a:r>
              <a:rPr lang="ko-KR" altLang="en-US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면접질문</a:t>
            </a:r>
            <a:r>
              <a:rPr lang="en-US" altLang="ko-KR" sz="1600" b="1" dirty="0">
                <a:solidFill>
                  <a:srgbClr val="0000FF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en-US" altLang="ko-KR" sz="16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2,100</a:t>
            </a:r>
            <a:r>
              <a:rPr lang="ko-KR" altLang="en-US" sz="16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</a:t>
            </a:r>
          </a:p>
        </p:txBody>
      </p:sp>
    </p:spTree>
    <p:extLst>
      <p:ext uri="{BB962C8B-B14F-4D97-AF65-F5344CB8AC3E}">
        <p14:creationId xmlns:p14="http://schemas.microsoft.com/office/powerpoint/2010/main" val="226792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EAAA-3726-A507-504E-F9042AD5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1DA7F7-67D6-CE4D-D323-25FB2E37ADCE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</a:t>
            </a:r>
            <a:r>
              <a:rPr lang="en-US" altLang="ko-KR" sz="1300" dirty="0"/>
              <a:t>-2</a:t>
            </a:r>
            <a:r>
              <a:rPr lang="en-US" altLang="ko-KR" dirty="0"/>
              <a:t>. Frontend </a:t>
            </a:r>
            <a:r>
              <a:rPr lang="ko-KR" altLang="en-US" dirty="0"/>
              <a:t>구조 및 배포환경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8A2EB5-D122-FB53-4894-08897CE62577}"/>
              </a:ext>
            </a:extLst>
          </p:cNvPr>
          <p:cNvSpPr txBox="1"/>
          <p:nvPr/>
        </p:nvSpPr>
        <p:spPr>
          <a:xfrm>
            <a:off x="470474" y="1457764"/>
            <a:ext cx="4130435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4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-login-app/</a:t>
            </a:r>
            <a:r>
              <a:rPr lang="en-US" altLang="ko-KR" sz="14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Src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/pages/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AC025A1-0721-5F88-AC9A-48E1CC38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778864"/>
              </p:ext>
            </p:extLst>
          </p:nvPr>
        </p:nvGraphicFramePr>
        <p:xfrm>
          <a:off x="348315" y="1827096"/>
          <a:ext cx="4883341" cy="3102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6658">
                  <a:extLst>
                    <a:ext uri="{9D8B030D-6E8A-4147-A177-3AD203B41FA5}">
                      <a16:colId xmlns:a16="http://schemas.microsoft.com/office/drawing/2014/main" val="500414721"/>
                    </a:ext>
                  </a:extLst>
                </a:gridCol>
                <a:gridCol w="2366683">
                  <a:extLst>
                    <a:ext uri="{9D8B030D-6E8A-4147-A177-3AD203B41FA5}">
                      <a16:colId xmlns:a16="http://schemas.microsoft.com/office/drawing/2014/main" val="2036187397"/>
                    </a:ext>
                  </a:extLst>
                </a:gridCol>
              </a:tblGrid>
              <a:tr h="3823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1.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메인</a:t>
                      </a:r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/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로그인 화면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MainPage.jsx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810733"/>
                  </a:ext>
                </a:extLst>
              </a:tr>
              <a:tr h="3823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2.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전체메뉴 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MenuPage.jsx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5834775"/>
                  </a:ext>
                </a:extLst>
              </a:tr>
              <a:tr h="1167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3.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최근 채용공고 </a:t>
                      </a:r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(</a:t>
                      </a:r>
                      <a:r>
                        <a:rPr lang="ko-KR" altLang="en-US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스크래핑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 기능 </a:t>
                      </a:r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3-1. BIGDATA/AI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채용공고 전체</a:t>
                      </a:r>
                      <a:endParaRPr lang="en-US" altLang="ko-KR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3-2. IT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채용공고 전체보기</a:t>
                      </a:r>
                    </a:p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3-3.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특정 채용공고 상세보기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JobsPage.jsx</a:t>
                      </a:r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 </a:t>
                      </a:r>
                    </a:p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AIJobsPage.jsx</a:t>
                      </a:r>
                      <a:endParaRPr lang="en-US" altLang="ko-KR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ITJobsPage.jsx</a:t>
                      </a:r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 </a:t>
                      </a:r>
                    </a:p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JobDetailPage.jsx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281000"/>
                  </a:ext>
                </a:extLst>
              </a:tr>
              <a:tr h="3823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4. AI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맞춤 채용공고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AIRecommendationPage.jsx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1498436"/>
                  </a:ext>
                </a:extLst>
              </a:tr>
              <a:tr h="3823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5. AI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면접 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AIInterviewPage.jsx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8612485"/>
                  </a:ext>
                </a:extLst>
              </a:tr>
              <a:tr h="405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6.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이력서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ResumePage.jsx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8472527"/>
                  </a:ext>
                </a:extLst>
              </a:tr>
            </a:tbl>
          </a:graphicData>
        </a:graphic>
      </p:graphicFrame>
      <p:sp>
        <p:nvSpPr>
          <p:cNvPr id="6" name="Text 1">
            <a:extLst>
              <a:ext uri="{FF2B5EF4-FFF2-40B4-BE49-F238E27FC236}">
                <a16:creationId xmlns:a16="http://schemas.microsoft.com/office/drawing/2014/main" id="{E693C47E-408D-9690-8AC9-8B0122CD009D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4B3DA94-4466-99BD-DB04-CC2416F229BF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FAE8E0FD-E783-CE42-8B1A-D6838D10DAF7}"/>
              </a:ext>
            </a:extLst>
          </p:cNvPr>
          <p:cNvSpPr/>
          <p:nvPr/>
        </p:nvSpPr>
        <p:spPr>
          <a:xfrm>
            <a:off x="5902001" y="1051311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DEBFD3E1-BED4-6618-B934-56214FEA5D0A}"/>
              </a:ext>
            </a:extLst>
          </p:cNvPr>
          <p:cNvSpPr/>
          <p:nvPr/>
        </p:nvSpPr>
        <p:spPr>
          <a:xfrm>
            <a:off x="5902001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0A686A5E-BECC-7BFC-C8D8-A88FDC157643}"/>
              </a:ext>
            </a:extLst>
          </p:cNvPr>
          <p:cNvSpPr/>
          <p:nvPr/>
        </p:nvSpPr>
        <p:spPr>
          <a:xfrm>
            <a:off x="5860195" y="1398037"/>
            <a:ext cx="36692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를 통한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API 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호출 최적화 및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캐싱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* AI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채용추천결과를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sessionStorage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에 저장하여 </a:t>
            </a:r>
            <a:endParaRPr lang="en-US" altLang="ko-KR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    AI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채용을 </a:t>
            </a:r>
            <a:r>
              <a:rPr lang="ko-KR" altLang="en-US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클릭할때마다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GPT</a:t>
            </a:r>
            <a:r>
              <a:rPr lang="ko-KR" altLang="en-US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서비스를 호출하지 않음 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3245D6-FFB2-C53C-0103-2BF261829D87}"/>
              </a:ext>
            </a:extLst>
          </p:cNvPr>
          <p:cNvSpPr/>
          <p:nvPr/>
        </p:nvSpPr>
        <p:spPr>
          <a:xfrm>
            <a:off x="5902001" y="2862182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배포환경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8FBC833-85A7-A7B1-110D-5311C68DE950}"/>
              </a:ext>
            </a:extLst>
          </p:cNvPr>
          <p:cNvSpPr/>
          <p:nvPr/>
        </p:nvSpPr>
        <p:spPr>
          <a:xfrm>
            <a:off x="5902001" y="3084084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D1E97A45-D690-AA45-D5E7-A838EC75416E}"/>
              </a:ext>
            </a:extLst>
          </p:cNvPr>
          <p:cNvSpPr/>
          <p:nvPr/>
        </p:nvSpPr>
        <p:spPr>
          <a:xfrm>
            <a:off x="5860195" y="3208908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</a:t>
            </a:r>
            <a:r>
              <a:rPr lang="en-US" altLang="ko-KR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300" b="1" dirty="0" err="1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Vercel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도메인 </a:t>
            </a:r>
            <a:r>
              <a:rPr lang="en-US" altLang="ko-KR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300" b="1" dirty="0" err="1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commitjob.site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Root Directory : </a:t>
            </a:r>
            <a:r>
              <a:rPr lang="en-US" altLang="ko-KR" sz="1300" dirty="0" err="1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kakao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-login-app </a:t>
            </a:r>
            <a:endParaRPr lang="ko-KR" altLang="en-US" sz="1300" dirty="0">
              <a:solidFill>
                <a:srgbClr val="161613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615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CE320-352C-EA2B-4D9F-4213C730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AD1514-FA48-45EB-B879-5590AD8F9DD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II</a:t>
            </a:r>
            <a:r>
              <a:rPr lang="en-US" altLang="ko-KR" sz="1300" dirty="0"/>
              <a:t>-3</a:t>
            </a:r>
            <a:r>
              <a:rPr lang="en-US" altLang="ko-KR" dirty="0"/>
              <a:t>. Backend </a:t>
            </a:r>
            <a:r>
              <a:rPr lang="ko-KR" altLang="en-US" dirty="0"/>
              <a:t>구조 및 배포환경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038822-E680-B44B-B91A-E54A86F9AE5A}"/>
              </a:ext>
            </a:extLst>
          </p:cNvPr>
          <p:cNvSpPr txBox="1"/>
          <p:nvPr/>
        </p:nvSpPr>
        <p:spPr>
          <a:xfrm>
            <a:off x="470474" y="1457764"/>
            <a:ext cx="4130435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Backend/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196D1F8-9483-ED7F-196B-1EA21DFF5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697451"/>
              </p:ext>
            </p:extLst>
          </p:nvPr>
        </p:nvGraphicFramePr>
        <p:xfrm>
          <a:off x="348316" y="1827096"/>
          <a:ext cx="3972672" cy="3823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7340">
                  <a:extLst>
                    <a:ext uri="{9D8B030D-6E8A-4147-A177-3AD203B41FA5}">
                      <a16:colId xmlns:a16="http://schemas.microsoft.com/office/drawing/2014/main" val="500414721"/>
                    </a:ext>
                  </a:extLst>
                </a:gridCol>
                <a:gridCol w="1925332">
                  <a:extLst>
                    <a:ext uri="{9D8B030D-6E8A-4147-A177-3AD203B41FA5}">
                      <a16:colId xmlns:a16="http://schemas.microsoft.com/office/drawing/2014/main" val="2036187397"/>
                    </a:ext>
                  </a:extLst>
                </a:gridCol>
              </a:tblGrid>
              <a:tr h="3823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1.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서버 서비스 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Server.js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810733"/>
                  </a:ext>
                </a:extLst>
              </a:tr>
            </a:tbl>
          </a:graphicData>
        </a:graphic>
      </p:graphicFrame>
      <p:sp>
        <p:nvSpPr>
          <p:cNvPr id="6" name="Text 1">
            <a:extLst>
              <a:ext uri="{FF2B5EF4-FFF2-40B4-BE49-F238E27FC236}">
                <a16:creationId xmlns:a16="http://schemas.microsoft.com/office/drawing/2014/main" id="{BED3E8BB-68A0-FA94-D06F-6367E37DF313}"/>
              </a:ext>
            </a:extLst>
          </p:cNvPr>
          <p:cNvSpPr/>
          <p:nvPr/>
        </p:nvSpPr>
        <p:spPr>
          <a:xfrm>
            <a:off x="386400" y="1051311"/>
            <a:ext cx="141759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01 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디렉토리 구조 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FDCDE93-5F3F-C56E-0FAB-1509AFE7C5EE}"/>
              </a:ext>
            </a:extLst>
          </p:cNvPr>
          <p:cNvSpPr/>
          <p:nvPr/>
        </p:nvSpPr>
        <p:spPr>
          <a:xfrm>
            <a:off x="386400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8C2F4836-8710-0213-DD11-42C16CF20503}"/>
              </a:ext>
            </a:extLst>
          </p:cNvPr>
          <p:cNvSpPr/>
          <p:nvPr/>
        </p:nvSpPr>
        <p:spPr>
          <a:xfrm>
            <a:off x="4996563" y="1051311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02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주요 특징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FCD7205C-BE50-A4AE-6E50-345EE5E02C1D}"/>
              </a:ext>
            </a:extLst>
          </p:cNvPr>
          <p:cNvSpPr/>
          <p:nvPr/>
        </p:nvSpPr>
        <p:spPr>
          <a:xfrm>
            <a:off x="4996563" y="1273213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BFCDDC6B-9FB5-F47F-802A-468190C9F776}"/>
              </a:ext>
            </a:extLst>
          </p:cNvPr>
          <p:cNvSpPr/>
          <p:nvPr/>
        </p:nvSpPr>
        <p:spPr>
          <a:xfrm>
            <a:off x="4954757" y="1398037"/>
            <a:ext cx="36692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OpenAI API (GPT) 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연결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AWS MySQL (RDS 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연결</a:t>
            </a: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최근 채용정보를 실시간 </a:t>
            </a:r>
            <a:r>
              <a:rPr lang="ko-KR" altLang="en-US" sz="14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스크래핑하여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AWS MySQL Jobs 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테이블에 저장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AI</a:t>
            </a:r>
            <a:r>
              <a:rPr lang="ko-KR" altLang="en-US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면접화면에서 회사별 기출 면접질문을 실시간 </a:t>
            </a:r>
            <a:r>
              <a:rPr lang="ko-KR" altLang="en-US" sz="14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스크래핑</a:t>
            </a:r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20000"/>
              </a:lnSpc>
            </a:pPr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A44862F-EBFA-C07E-82E1-AB47205A0610}"/>
              </a:ext>
            </a:extLst>
          </p:cNvPr>
          <p:cNvSpPr/>
          <p:nvPr/>
        </p:nvSpPr>
        <p:spPr>
          <a:xfrm>
            <a:off x="4996563" y="3301456"/>
            <a:ext cx="1739294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03  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배포환경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AB17AE9-AD55-3FC2-03BD-C50F450C970F}"/>
              </a:ext>
            </a:extLst>
          </p:cNvPr>
          <p:cNvSpPr/>
          <p:nvPr/>
        </p:nvSpPr>
        <p:spPr>
          <a:xfrm>
            <a:off x="4996563" y="3523358"/>
            <a:ext cx="2622724" cy="19050"/>
          </a:xfrm>
          <a:prstGeom prst="rect">
            <a:avLst/>
          </a:prstGeom>
          <a:solidFill>
            <a:srgbClr val="28282F"/>
          </a:solidFill>
          <a:ln/>
        </p:spPr>
        <p:txBody>
          <a:bodyPr/>
          <a:lstStyle/>
          <a:p>
            <a:endParaRPr lang="ko-KR" altLang="en-US" sz="1125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A3E8E7C6-3C4D-41FE-1A62-E03900F0A4E3}"/>
              </a:ext>
            </a:extLst>
          </p:cNvPr>
          <p:cNvSpPr/>
          <p:nvPr/>
        </p:nvSpPr>
        <p:spPr>
          <a:xfrm>
            <a:off x="4954757" y="3648182"/>
            <a:ext cx="30230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플랫폼 </a:t>
            </a:r>
            <a:r>
              <a:rPr lang="en-US" altLang="ko-KR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Railway</a:t>
            </a:r>
          </a:p>
          <a:p>
            <a:pPr>
              <a:lnSpc>
                <a:spcPct val="150000"/>
              </a:lnSpc>
            </a:pP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- </a:t>
            </a:r>
            <a:r>
              <a:rPr lang="ko-KR" altLang="en-US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서버 서비스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  <a:cs typeface="Inter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 * URL</a:t>
            </a:r>
            <a:r>
              <a:rPr lang="ko-KR" altLang="en-US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 </a:t>
            </a:r>
            <a:r>
              <a:rPr lang="en-US" altLang="ko-KR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: </a:t>
            </a:r>
            <a:r>
              <a:rPr lang="en-US" altLang="ko-KR" sz="1300" b="1" dirty="0" err="1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commitjob-backend.up.railway.app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* 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Root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Directory : backend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catch.co.kr </a:t>
            </a:r>
            <a:r>
              <a:rPr lang="ko-KR" altLang="en-US" sz="1300" b="1" dirty="0" err="1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스크래퍼</a:t>
            </a:r>
            <a:r>
              <a:rPr lang="ko-KR" altLang="en-US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서비스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* URL : </a:t>
            </a:r>
            <a:r>
              <a:rPr lang="en-US" altLang="ko-KR" sz="1300" b="1" dirty="0" err="1">
                <a:solidFill>
                  <a:srgbClr val="C0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commitjob-production.up.railway.app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3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* </a:t>
            </a:r>
            <a:r>
              <a:rPr lang="en-US" altLang="ko-KR" sz="1300" dirty="0"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Root </a:t>
            </a:r>
            <a:r>
              <a:rPr lang="en-US" altLang="ko-KR" sz="1300" dirty="0">
                <a:solidFill>
                  <a:srgbClr val="161613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Inter" pitchFamily="34" charset="-120"/>
              </a:rPr>
              <a:t>Directory : backend/catch-scraper-service</a:t>
            </a:r>
            <a:endParaRPr lang="en-US" altLang="ko-KR" sz="1300" b="1" dirty="0">
              <a:solidFill>
                <a:srgbClr val="C0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43760-00B2-83C6-3992-42D3F4E42A2C}"/>
              </a:ext>
            </a:extLst>
          </p:cNvPr>
          <p:cNvSpPr txBox="1"/>
          <p:nvPr/>
        </p:nvSpPr>
        <p:spPr>
          <a:xfrm>
            <a:off x="470474" y="2488248"/>
            <a:ext cx="4130435" cy="33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413" indent="-1254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Backend/catch-scraper-service/</a:t>
            </a:r>
            <a:endParaRPr lang="ko-KR" altLang="en-US" sz="1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BBB687C-1E9A-CD9C-43F6-B94EA6E5B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909517"/>
              </p:ext>
            </p:extLst>
          </p:nvPr>
        </p:nvGraphicFramePr>
        <p:xfrm>
          <a:off x="348316" y="2857580"/>
          <a:ext cx="3972672" cy="48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7340">
                  <a:extLst>
                    <a:ext uri="{9D8B030D-6E8A-4147-A177-3AD203B41FA5}">
                      <a16:colId xmlns:a16="http://schemas.microsoft.com/office/drawing/2014/main" val="500414721"/>
                    </a:ext>
                  </a:extLst>
                </a:gridCol>
                <a:gridCol w="1925332">
                  <a:extLst>
                    <a:ext uri="{9D8B030D-6E8A-4147-A177-3AD203B41FA5}">
                      <a16:colId xmlns:a16="http://schemas.microsoft.com/office/drawing/2014/main" val="2036187397"/>
                    </a:ext>
                  </a:extLst>
                </a:gridCol>
              </a:tblGrid>
              <a:tr h="3823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2. catch.co.kr </a:t>
                      </a:r>
                      <a:r>
                        <a:rPr lang="ko-KR" altLang="en-US" sz="1300" dirty="0" err="1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스크래퍼</a:t>
                      </a:r>
                      <a:endParaRPr lang="en-US" altLang="ko-KR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  <a:p>
                      <a:pPr latinLnBrk="1"/>
                      <a:r>
                        <a:rPr lang="en-US" altLang="ko-KR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    </a:t>
                      </a:r>
                      <a:r>
                        <a:rPr lang="ko-KR" altLang="en-US" sz="1300" dirty="0">
                          <a:latin typeface="한컴 고딕" panose="02000500000000000000" pitchFamily="2" charset="-127"/>
                          <a:ea typeface="한컴 고딕" panose="02000500000000000000" pitchFamily="2" charset="-127"/>
                        </a:rPr>
                        <a:t>서비스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solidFill>
                            <a:srgbClr val="161613"/>
                          </a:solidFill>
                          <a:latin typeface="한컴 고딕" panose="02000500000000000000" pitchFamily="2" charset="-127"/>
                          <a:ea typeface="한컴 고딕" panose="02000500000000000000" pitchFamily="2" charset="-127"/>
                          <a:cs typeface="Inter" pitchFamily="34" charset="-120"/>
                        </a:rPr>
                        <a:t>catch_scraper.py </a:t>
                      </a:r>
                      <a:endParaRPr lang="ko-KR" altLang="en-US" sz="1300" dirty="0">
                        <a:latin typeface="한컴 고딕" panose="02000500000000000000" pitchFamily="2" charset="-127"/>
                        <a:ea typeface="한컴 고딕" panose="020005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810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50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6ECD-A50A-2102-0C95-CB2A14584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BBA23C-D112-EFBD-E784-8262309F460C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2DB23EA-CE5B-336A-533C-C3C97D479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382" y="1019175"/>
            <a:ext cx="2914841" cy="4752975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AB4AED57-41E1-3831-9994-01A667D31FED}"/>
              </a:ext>
            </a:extLst>
          </p:cNvPr>
          <p:cNvSpPr/>
          <p:nvPr/>
        </p:nvSpPr>
        <p:spPr>
          <a:xfrm>
            <a:off x="255331" y="695325"/>
            <a:ext cx="3183194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1. https://commitjob.site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초기화면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C10A38D-6F17-1EE7-3C3E-ABDA43CB7ECC}"/>
              </a:ext>
            </a:extLst>
          </p:cNvPr>
          <p:cNvSpPr/>
          <p:nvPr/>
        </p:nvSpPr>
        <p:spPr>
          <a:xfrm>
            <a:off x="3638882" y="695325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안내화면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2215848-9B9F-8867-BBCF-46536FC854FC}"/>
              </a:ext>
            </a:extLst>
          </p:cNvPr>
          <p:cNvSpPr/>
          <p:nvPr/>
        </p:nvSpPr>
        <p:spPr>
          <a:xfrm>
            <a:off x="6877382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B0FA044-B941-7870-DA27-C7E9EC846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4" y="1019175"/>
            <a:ext cx="3545037" cy="47529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C0D11B6-A5AE-B192-96D4-AFDC360AA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811" y="1182369"/>
            <a:ext cx="3298481" cy="442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4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6802F-EAAE-0DB2-A67A-E1393119C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3F3E3A-A8D5-4598-A571-564C6A4C91A8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D630EF-FDC0-BA9B-CBC0-1EAC933DF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60" y="981673"/>
            <a:ext cx="2652445" cy="4292138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D320BAFA-4FF4-3ADE-A1B4-2B9135696EDD}"/>
              </a:ext>
            </a:extLst>
          </p:cNvPr>
          <p:cNvSpPr/>
          <p:nvPr/>
        </p:nvSpPr>
        <p:spPr>
          <a:xfrm>
            <a:off x="437388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2-3.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카카오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QR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 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AFEB2A0-A6E0-5D99-B235-EF1B5758E092}"/>
              </a:ext>
            </a:extLst>
          </p:cNvPr>
          <p:cNvSpPr/>
          <p:nvPr/>
        </p:nvSpPr>
        <p:spPr>
          <a:xfrm>
            <a:off x="3228213" y="711870"/>
            <a:ext cx="2447593" cy="271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2"/>
              </a:lnSpc>
            </a:pP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로그인한 </a:t>
            </a:r>
            <a:r>
              <a:rPr lang="en-US" altLang="ko-KR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commitjob.site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홈화면</a:t>
            </a:r>
            <a:endParaRPr lang="en-US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78B9F6-6D00-9437-AA24-1FAEA601EE2F}"/>
              </a:ext>
            </a:extLst>
          </p:cNvPr>
          <p:cNvSpPr txBox="1"/>
          <p:nvPr/>
        </p:nvSpPr>
        <p:spPr>
          <a:xfrm>
            <a:off x="6467555" y="65850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 메뉴</a:t>
            </a:r>
            <a:endParaRPr lang="ko-KR" altLang="en-US" sz="15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6A6B893-1D0F-F422-9AFD-FCA9C3497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269" y="963030"/>
            <a:ext cx="3568513" cy="4784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9431B36-82C8-D986-4C4A-3F563A8F14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555" y="963030"/>
            <a:ext cx="3496694" cy="576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09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7EF3-01E9-9815-D8A7-F7D5086C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29F58-3B68-EB87-9481-82C227E1B4ED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600277-B5E9-6340-8BF2-9E338AA17FC2}"/>
              </a:ext>
            </a:extLst>
          </p:cNvPr>
          <p:cNvSpPr txBox="1"/>
          <p:nvPr/>
        </p:nvSpPr>
        <p:spPr>
          <a:xfrm>
            <a:off x="3768220" y="681791"/>
            <a:ext cx="29819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로그아웃 화면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9FFC0-02D3-6BA3-503B-596A3A47CBDB}"/>
              </a:ext>
            </a:extLst>
          </p:cNvPr>
          <p:cNvSpPr txBox="1"/>
          <p:nvPr/>
        </p:nvSpPr>
        <p:spPr>
          <a:xfrm>
            <a:off x="7140573" y="688998"/>
            <a:ext cx="227647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회원 탈퇴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화면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BA7F04-2ED0-76AC-4B7B-AD3FAB2BF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220" y="1081087"/>
            <a:ext cx="2692001" cy="45053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58D2C6E-8D8E-AFBC-8326-F92486BD7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571" y="1081087"/>
            <a:ext cx="2664779" cy="447460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9AB6E6-5D3A-3983-DC80-8B4257B37349}"/>
              </a:ext>
            </a:extLst>
          </p:cNvPr>
          <p:cNvSpPr txBox="1"/>
          <p:nvPr/>
        </p:nvSpPr>
        <p:spPr>
          <a:xfrm>
            <a:off x="382588" y="686336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5-1.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사용자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  <a:cs typeface="DM Sans Light" pitchFamily="34" charset="-120"/>
              </a:rPr>
              <a:t> 프로필 화면</a:t>
            </a:r>
            <a:endParaRPr lang="ko-KR" altLang="en-US" sz="15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EFE09C7-6D46-6E2B-48B3-D572070C0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06" y="1009500"/>
            <a:ext cx="3262074" cy="541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92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0656-F67C-C280-C970-A052CB6F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1D1310-1882-1F76-6F44-D1849EB9BB3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7AD283-C563-DA3F-5D0C-A8ADEE8FB19E}"/>
              </a:ext>
            </a:extLst>
          </p:cNvPr>
          <p:cNvSpPr txBox="1"/>
          <p:nvPr/>
        </p:nvSpPr>
        <p:spPr>
          <a:xfrm>
            <a:off x="382588" y="686336"/>
            <a:ext cx="34654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6.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 저장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조회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/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수정</a:t>
            </a:r>
            <a:endParaRPr lang="ko-KR" altLang="en-US" sz="15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FFCF96-77DB-DACF-2E7A-D0B7D759C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83" y="1017906"/>
            <a:ext cx="3880669" cy="57467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D7390C-34A2-45E2-3847-BBFFCE25C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601" y="1012163"/>
            <a:ext cx="3508893" cy="579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51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7856-B401-2FB5-5091-545785257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C921AB-63CB-325E-5B16-95052CDC6B1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1B643-8761-345C-A99A-C71CDF708442}"/>
              </a:ext>
            </a:extLst>
          </p:cNvPr>
          <p:cNvSpPr txBox="1"/>
          <p:nvPr/>
        </p:nvSpPr>
        <p:spPr>
          <a:xfrm>
            <a:off x="263964" y="624187"/>
            <a:ext cx="5321048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7-1.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카테고리별 최신 채용공고 조회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5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bigdata/AI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IT 6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최신 채용공고 조회</a:t>
            </a:r>
            <a:endParaRPr lang="en-US" altLang="ko-KR" sz="1500" dirty="0">
              <a:solidFill>
                <a:prstClr val="black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전체보기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전체 채용공고를 조회 가능</a:t>
            </a:r>
            <a:endParaRPr lang="en-US" altLang="ko-KR" sz="1500" dirty="0">
              <a:solidFill>
                <a:prstClr val="black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500" b="1" u="sng" dirty="0">
                <a:solidFill>
                  <a:srgbClr val="FF0000"/>
                </a:solidFill>
              </a:rPr>
              <a:t>최근 공고 </a:t>
            </a:r>
            <a:r>
              <a:rPr lang="ko-KR" altLang="en-US" sz="1500" b="1" u="sng" dirty="0" err="1">
                <a:solidFill>
                  <a:srgbClr val="FF0000"/>
                </a:solidFill>
              </a:rPr>
              <a:t>스크래핑</a:t>
            </a:r>
            <a:r>
              <a:rPr lang="ko-KR" altLang="en-US" sz="1500" b="1" u="sng" dirty="0">
                <a:solidFill>
                  <a:srgbClr val="FF0000"/>
                </a:solidFill>
              </a:rPr>
              <a:t> </a:t>
            </a:r>
            <a:r>
              <a:rPr lang="ko-KR" altLang="en-US" sz="1500" b="1" u="sng" dirty="0" err="1">
                <a:solidFill>
                  <a:srgbClr val="FF0000"/>
                </a:solidFill>
              </a:rPr>
              <a:t>클릭시</a:t>
            </a:r>
            <a:r>
              <a:rPr lang="ko-KR" altLang="en-US" sz="1500" b="1" u="sng" dirty="0">
                <a:solidFill>
                  <a:srgbClr val="FF0000"/>
                </a:solidFill>
              </a:rPr>
              <a:t> </a:t>
            </a:r>
            <a:r>
              <a:rPr lang="en-US" altLang="ko-KR" sz="1500" dirty="0"/>
              <a:t>catch.co.kr</a:t>
            </a:r>
            <a:r>
              <a:rPr lang="ko-KR" altLang="en-US" sz="1500" dirty="0"/>
              <a:t>에서 채용공고 </a:t>
            </a:r>
            <a:r>
              <a:rPr lang="en-US" altLang="ko-KR" sz="1500" dirty="0"/>
              <a:t>30</a:t>
            </a:r>
            <a:r>
              <a:rPr lang="ko-KR" altLang="en-US" sz="1500" dirty="0"/>
              <a:t>건을  </a:t>
            </a:r>
            <a:endParaRPr lang="en-US" altLang="ko-KR" sz="1500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dirty="0"/>
              <a:t>    </a:t>
            </a:r>
            <a:r>
              <a:rPr lang="ko-KR" altLang="en-US" sz="1500" dirty="0" err="1"/>
              <a:t>스크래핑하여</a:t>
            </a:r>
            <a:r>
              <a:rPr lang="ko-KR" altLang="en-US" sz="1500" dirty="0"/>
              <a:t> </a:t>
            </a:r>
            <a:r>
              <a:rPr lang="en-US" altLang="ko-KR" sz="1500" dirty="0"/>
              <a:t>AWS jobs</a:t>
            </a:r>
            <a:r>
              <a:rPr lang="ko-KR" altLang="en-US" sz="1500" dirty="0"/>
              <a:t>테이블에 </a:t>
            </a:r>
            <a:r>
              <a:rPr lang="en-US" altLang="ko-KR" sz="1500" dirty="0"/>
              <a:t>INSERT (</a:t>
            </a:r>
            <a:r>
              <a:rPr lang="ko-KR" altLang="en-US" sz="1500" dirty="0"/>
              <a:t>중복 제외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BD6EB-4D33-922B-CF64-7FBB1684D5F4}"/>
              </a:ext>
            </a:extLst>
          </p:cNvPr>
          <p:cNvSpPr txBox="1"/>
          <p:nvPr/>
        </p:nvSpPr>
        <p:spPr>
          <a:xfrm>
            <a:off x="5691647" y="611848"/>
            <a:ext cx="3846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7-2.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전체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catch.co.kr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에서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bigdata/AI 65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IT 75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건 채용공고를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스크래핑하여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1500" dirty="0">
              <a:solidFill>
                <a:prstClr val="black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AWS jobs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 생성완료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조회 속도 개선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15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C6CF69-99FA-85A4-FAC9-9261DC674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647" y="1818588"/>
            <a:ext cx="3284598" cy="48479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7F62912-143D-A8D2-B06E-B0835B8A4F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971"/>
          <a:stretch>
            <a:fillRect/>
          </a:stretch>
        </p:blipFill>
        <p:spPr>
          <a:xfrm>
            <a:off x="680741" y="1993793"/>
            <a:ext cx="3918153" cy="469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43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BCE8-F5C9-AE40-A9A0-39071F18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F78B01-7A80-0282-E507-9C4AF392B416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2EA56-3899-680D-E2A6-D87EE2153F90}"/>
              </a:ext>
            </a:extLst>
          </p:cNvPr>
          <p:cNvSpPr txBox="1"/>
          <p:nvPr/>
        </p:nvSpPr>
        <p:spPr>
          <a:xfrm>
            <a:off x="743086" y="701434"/>
            <a:ext cx="371099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7-3.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상세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AWS </a:t>
            </a:r>
            <a:r>
              <a:rPr lang="en-US" altLang="ko-KR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MySql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jobs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테이블 정보를 보여줌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48E02-200D-18C8-FD0C-69ADAD1A674D}"/>
              </a:ext>
            </a:extLst>
          </p:cNvPr>
          <p:cNvSpPr txBox="1"/>
          <p:nvPr/>
        </p:nvSpPr>
        <p:spPr>
          <a:xfrm>
            <a:off x="5318464" y="675551"/>
            <a:ext cx="413033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7-4.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채용공고 원본 보기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endParaRPr lang="en-US" altLang="ko-KR" sz="8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원본 채용공고 보기 </a:t>
            </a:r>
            <a:r>
              <a:rPr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클릭시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catch.co.kr </a:t>
            </a: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endParaRPr lang="en-US" altLang="ko-KR" sz="1500" dirty="0">
              <a:solidFill>
                <a:prstClr val="black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원본 채용공고 페이지로 연결됨 </a:t>
            </a:r>
            <a:endParaRPr lang="ko-KR" altLang="en-US" sz="15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D87629-F8E0-6AC4-5F28-ED8A5EFCB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465" y="1705381"/>
            <a:ext cx="2810127" cy="47434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BDF3780-ECE3-B62A-E059-CBC3E9057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86" y="1705380"/>
            <a:ext cx="3199567" cy="474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1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B042-EF64-9DE0-8EEF-F9A607802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906AC-071A-AF24-4261-D422AEC3B0BB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823189-6117-98C5-CE5B-67E16E2939D3}"/>
              </a:ext>
            </a:extLst>
          </p:cNvPr>
          <p:cNvSpPr txBox="1"/>
          <p:nvPr/>
        </p:nvSpPr>
        <p:spPr>
          <a:xfrm>
            <a:off x="315936" y="661873"/>
            <a:ext cx="9590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8-0. AI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채용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추천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AI 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, AI 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자소서는 이력서 작성 후 이용 가능함</a:t>
            </a:r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27F34D-22E3-75D1-99BE-CC970D01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8" y="1102170"/>
            <a:ext cx="3705742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27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734D-2BEE-C11C-63E9-E7515A28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F1FE57-C3EB-C163-DDFF-FAE67ED33F8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6733FE-9C8A-AD4E-E260-B703C190B19F}"/>
              </a:ext>
            </a:extLst>
          </p:cNvPr>
          <p:cNvSpPr txBox="1"/>
          <p:nvPr/>
        </p:nvSpPr>
        <p:spPr>
          <a:xfrm>
            <a:off x="315936" y="661873"/>
            <a:ext cx="9590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8-1. AI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채용공고 추천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(40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초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사용자 이력서와 채용공고 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100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건을 분석하여 </a:t>
            </a:r>
            <a:r>
              <a:rPr lang="ko-KR" altLang="en-US" sz="1400" b="1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매칭률이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높은 </a:t>
            </a:r>
            <a:r>
              <a:rPr lang="en-US" altLang="ko-KR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4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 채용공고 추천</a:t>
            </a:r>
            <a:endParaRPr lang="en-US" altLang="ko-KR" sz="14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4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</a:t>
            </a:r>
            <a:endParaRPr lang="ko-KR" altLang="en-US" sz="14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4716A3-2445-EF64-7FCC-7405512DD7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70"/>
          <a:stretch>
            <a:fillRect/>
          </a:stretch>
        </p:blipFill>
        <p:spPr>
          <a:xfrm>
            <a:off x="154571" y="1030558"/>
            <a:ext cx="4318817" cy="57340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8537890-B7D4-9C15-9417-F144C0943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753" y="2037509"/>
            <a:ext cx="5116676" cy="46794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0B5B42-D0D9-5C7B-D1F9-DFC9FA7FF984}"/>
              </a:ext>
            </a:extLst>
          </p:cNvPr>
          <p:cNvSpPr txBox="1"/>
          <p:nvPr/>
        </p:nvSpPr>
        <p:spPr>
          <a:xfrm>
            <a:off x="4670612" y="999774"/>
            <a:ext cx="49933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- GPT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가 사용자 이력서와 추천한 채용공고간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매칭률과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매칭이유를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</a:rPr>
              <a:t> 설명해줌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ko-KR" altLang="en-US" sz="14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이력서 수정 시 </a:t>
            </a:r>
            <a:r>
              <a:rPr lang="en-US" altLang="ko-KR" sz="14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[AI</a:t>
            </a:r>
            <a:r>
              <a:rPr lang="ko-KR" altLang="en-US" sz="14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추천 </a:t>
            </a:r>
            <a:r>
              <a:rPr lang="ko-KR" altLang="en-US" sz="140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새로고침</a:t>
            </a:r>
            <a:r>
              <a:rPr lang="en-US" altLang="ko-KR" sz="14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]</a:t>
            </a:r>
            <a:r>
              <a:rPr lang="ko-KR" altLang="en-US" sz="14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클릭하여 </a:t>
            </a:r>
            <a:r>
              <a:rPr lang="ko-KR" altLang="en-US" sz="1400" b="1" dirty="0" err="1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재추천</a:t>
            </a:r>
            <a:r>
              <a:rPr lang="ko-KR" altLang="en-US" sz="1400" b="1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받기</a:t>
            </a:r>
            <a:endParaRPr lang="en-US" altLang="ko-KR" sz="1400" b="1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lvl="0"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lang="en-US" altLang="ko-KR" sz="1400" b="1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sessionStorage</a:t>
            </a:r>
            <a:r>
              <a:rPr lang="ko-KR" altLang="en-US" sz="1400" b="1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에 추천결과를 저장하여 </a:t>
            </a:r>
            <a:r>
              <a:rPr lang="ko-KR" altLang="en-US" sz="1400" b="1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재조회</a:t>
            </a:r>
            <a:r>
              <a:rPr lang="ko-KR" altLang="en-US" sz="1400" b="1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속도 개선 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4169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858A-B277-7B49-D81D-8B5F933C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78A82-A463-3995-17ED-8B58B94C7727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3A837E-01E9-A915-1056-2329C856971B}"/>
              </a:ext>
            </a:extLst>
          </p:cNvPr>
          <p:cNvSpPr txBox="1"/>
          <p:nvPr/>
        </p:nvSpPr>
        <p:spPr>
          <a:xfrm>
            <a:off x="344488" y="531970"/>
            <a:ext cx="956151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면접 지원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: GPT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활용하여  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1)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맞춤형 면접 질문 생성    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2)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선택한 질문의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모범 답변 제시 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                                                                                  3)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입력한 답변에 대한 피드백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                                                                                        4)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피드백을 반영한 수정된 모범 답변 제시 기능을 제공 </a:t>
            </a:r>
            <a:endParaRPr lang="ko-KR" altLang="en-US" sz="15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6341B4B-B0D3-DEF5-7EFF-835C85A59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83" y="855135"/>
            <a:ext cx="4488860" cy="58407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9536A5-5263-7476-C73B-346CE81E1D72}"/>
              </a:ext>
            </a:extLst>
          </p:cNvPr>
          <p:cNvSpPr txBox="1"/>
          <p:nvPr/>
        </p:nvSpPr>
        <p:spPr>
          <a:xfrm>
            <a:off x="4842600" y="1657834"/>
            <a:ext cx="50634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5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04. GPT</a:t>
            </a:r>
            <a:r>
              <a:rPr kumimoji="1" lang="ko-KR" altLang="en-US" sz="1500" b="1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피드백을 반영한 수정된 모범 답변을 제시</a:t>
            </a:r>
            <a:endParaRPr kumimoji="1" lang="en-US" altLang="ko-KR" sz="1500" b="1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 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회원님이 입력한 답변에 대한 피드백을 반영하여  </a:t>
            </a:r>
            <a:endParaRPr kumimoji="1"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수정된 모범 답변을 제시해드립니다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 </a:t>
            </a:r>
          </a:p>
          <a:p>
            <a:endParaRPr kumimoji="1"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kumimoji="1"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회사명 입력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-&gt;</a:t>
            </a:r>
            <a:r>
              <a:rPr kumimoji="1" lang="en-US" altLang="ko-KR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www.catch.co.kr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해당 회사의 실시간 기출질문 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10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 </a:t>
            </a:r>
            <a:r>
              <a:rPr kumimoji="1" lang="ko-KR" altLang="en-US" sz="15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스크래핑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-&gt;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회원님 이력서 조회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-&gt;GPT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에게 해당 회사의 기출질문과 회원님 이력서를 바탕으로 면접 질문 생성 요청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회원님이 선택한 면접 질문에 대한 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 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모범 답변 제시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회원님이 입력한 답변에 대한 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피드백과 답변점수 제시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GPT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 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AI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피드백을 반영한 수정된 모범 답변 제시</a:t>
            </a:r>
            <a:r>
              <a:rPr kumimoji="1" lang="en-US" altLang="ko-KR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r>
              <a:rPr kumimoji="1" lang="ko-KR" altLang="en-US" sz="15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kumimoji="1" lang="en-US" altLang="ko-KR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r>
              <a:rPr kumimoji="1" lang="ko-KR" altLang="en-US" sz="1600" dirty="0"/>
              <a:t>①②③④⑤⑥</a:t>
            </a:r>
            <a:endParaRPr kumimoji="1" lang="ko-KR" altLang="en-US" sz="15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9077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3EFF-68F7-00C3-AEC8-AA299619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DE9AB11-5CAD-5233-3979-E1BB4DD1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88" y="1098614"/>
            <a:ext cx="7612697" cy="55022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2CF17E-C2A7-59A8-5CC4-48642DB8C8A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32AC0-74FE-75D4-EB2B-1FB764C624A9}"/>
              </a:ext>
            </a:extLst>
          </p:cNvPr>
          <p:cNvSpPr txBox="1"/>
          <p:nvPr/>
        </p:nvSpPr>
        <p:spPr>
          <a:xfrm>
            <a:off x="315936" y="661873"/>
            <a:ext cx="44560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참고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 catch.co.kr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네이버 기출질문 </a:t>
            </a:r>
            <a:r>
              <a:rPr lang="ko-KR" altLang="en-US" sz="1500" b="1" dirty="0" err="1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스크래핑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C1D3BE-7F3D-2343-EF1E-94B292D84C5C}"/>
              </a:ext>
            </a:extLst>
          </p:cNvPr>
          <p:cNvSpPr/>
          <p:nvPr/>
        </p:nvSpPr>
        <p:spPr>
          <a:xfrm>
            <a:off x="1198098" y="3706951"/>
            <a:ext cx="5545602" cy="289390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0DBF13-70F0-2406-0F85-10C892B8C316}"/>
              </a:ext>
            </a:extLst>
          </p:cNvPr>
          <p:cNvSpPr/>
          <p:nvPr/>
        </p:nvSpPr>
        <p:spPr>
          <a:xfrm>
            <a:off x="4772025" y="3151049"/>
            <a:ext cx="3604260" cy="42054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3137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04FF-B61E-88FE-DA5E-F1C395FCC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F9D4BE-4607-3001-A926-1455F54C18C2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9D8EC0-B52F-0185-1E8A-3CE747CA5ED4}"/>
              </a:ext>
            </a:extLst>
          </p:cNvPr>
          <p:cNvSpPr txBox="1"/>
          <p:nvPr/>
        </p:nvSpPr>
        <p:spPr>
          <a:xfrm>
            <a:off x="344488" y="570070"/>
            <a:ext cx="90154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9-1.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맞춤형 면접 질문 받기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(45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초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: GPT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활용</a:t>
            </a:r>
            <a:endParaRPr lang="ko-KR" altLang="en-US" sz="15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2EABE1-C081-144C-5FF1-6D8E6729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84" y="924385"/>
            <a:ext cx="4719116" cy="5629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C6D3FF-25B4-1F5C-F105-B230FB173F0C}"/>
              </a:ext>
            </a:extLst>
          </p:cNvPr>
          <p:cNvSpPr txBox="1"/>
          <p:nvPr/>
        </p:nvSpPr>
        <p:spPr>
          <a:xfrm>
            <a:off x="4953000" y="1360819"/>
            <a:ext cx="4854388" cy="2136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01. GPT</a:t>
            </a:r>
            <a:r>
              <a:rPr kumimoji="1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가 맞춤형 면접 질문 </a:t>
            </a:r>
            <a:r>
              <a:rPr kumimoji="1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5</a:t>
            </a:r>
            <a:r>
              <a:rPr kumimoji="1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개 생성</a:t>
            </a:r>
            <a:endParaRPr kumimoji="1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- GPT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가 아래 정보를 분석하여 회원 맞춤형 면접질문 제시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① 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회원이 입력한 회사명 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② 회원의 이력서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(AWS MySQL </a:t>
            </a:r>
            <a:r>
              <a:rPr kumimoji="1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User_Profiles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조회결과</a:t>
            </a: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</a:t>
            </a:r>
            <a:r>
              <a:rPr kumimoji="1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③ </a:t>
            </a: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catch.co.kr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에서 실시간 </a:t>
            </a:r>
            <a:r>
              <a:rPr kumimoji="1" lang="ko-KR" altLang="en-US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스크래핑한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해당 회사의 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    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기출질문 </a:t>
            </a: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10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건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985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DD01-4B7A-75E4-C014-7B4F123B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9E5497-D18F-86F3-4158-56A319862DD3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87253E-A884-9B51-0B2C-661C5D70B470}"/>
              </a:ext>
            </a:extLst>
          </p:cNvPr>
          <p:cNvSpPr txBox="1"/>
          <p:nvPr/>
        </p:nvSpPr>
        <p:spPr>
          <a:xfrm>
            <a:off x="344488" y="531970"/>
            <a:ext cx="95615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9-2.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선택한 면접 질문의 모범 답변 받기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(10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초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: GPT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활용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4F21E4-E6F8-CAD0-F170-17B7407CB6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840"/>
          <a:stretch>
            <a:fillRect/>
          </a:stretch>
        </p:blipFill>
        <p:spPr>
          <a:xfrm>
            <a:off x="319088" y="899027"/>
            <a:ext cx="4440973" cy="58402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64A8AB-7E6D-9F9F-BD67-A912D57D64FF}"/>
              </a:ext>
            </a:extLst>
          </p:cNvPr>
          <p:cNvSpPr txBox="1"/>
          <p:nvPr/>
        </p:nvSpPr>
        <p:spPr>
          <a:xfrm>
            <a:off x="4953000" y="1385585"/>
            <a:ext cx="4953000" cy="1097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02. GPT</a:t>
            </a:r>
            <a:r>
              <a:rPr kumimoji="1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가 선택한 면접 질문에 대한 모범 답변 제시 </a:t>
            </a:r>
            <a:endParaRPr kumimoji="1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- GPT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가 회원님이 선택한 면접 질문에 대해 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  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모범 답변을 생성하여 제시합니다</a:t>
            </a: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6032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6926-68C0-EB85-475D-2E9F386D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FFAFC6-29D5-8B8C-E734-26195593FED9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D42194-F49F-5430-D865-DE212BB7AFAB}"/>
              </a:ext>
            </a:extLst>
          </p:cNvPr>
          <p:cNvSpPr txBox="1"/>
          <p:nvPr/>
        </p:nvSpPr>
        <p:spPr>
          <a:xfrm>
            <a:off x="344488" y="557370"/>
            <a:ext cx="956151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9-3.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입력한 답변 피드백 받기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(10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초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 : GPT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를 활용</a:t>
            </a:r>
            <a:endParaRPr lang="en-US" altLang="ko-KR" sz="1500" b="1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F8F27AB-92C3-6048-2EFE-D35EA5474F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28"/>
          <a:stretch>
            <a:fillRect/>
          </a:stretch>
        </p:blipFill>
        <p:spPr>
          <a:xfrm>
            <a:off x="268288" y="924427"/>
            <a:ext cx="4538870" cy="57176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111DD6-50E7-18E5-04EB-E11BCA66607E}"/>
              </a:ext>
            </a:extLst>
          </p:cNvPr>
          <p:cNvSpPr txBox="1"/>
          <p:nvPr/>
        </p:nvSpPr>
        <p:spPr>
          <a:xfrm>
            <a:off x="5098844" y="1080785"/>
            <a:ext cx="4807156" cy="1097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03. GPT</a:t>
            </a:r>
            <a:r>
              <a:rPr kumimoji="1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가 입력한 답변에 대한 피드백과 점수를 제시</a:t>
            </a:r>
            <a:endParaRPr kumimoji="1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- GPT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가 회원님이 입력한 답변을 분석하여 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  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상세한 피드백과 점수를 제시해드립니다</a:t>
            </a: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1266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E825-2750-28CF-2E4D-40BFDB61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F1E935-3AC1-34D0-788E-9AEC2C37449D}"/>
              </a:ext>
            </a:extLst>
          </p:cNvPr>
          <p:cNvSpPr txBox="1"/>
          <p:nvPr/>
        </p:nvSpPr>
        <p:spPr>
          <a:xfrm>
            <a:off x="233883" y="93346"/>
            <a:ext cx="77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altLang="ko-KR" dirty="0"/>
              <a:t>IV. </a:t>
            </a:r>
            <a:r>
              <a:rPr lang="en-US" altLang="ko-KR" dirty="0" err="1"/>
              <a:t>CommitJob</a:t>
            </a:r>
            <a:r>
              <a:rPr lang="en-US" altLang="ko-KR" dirty="0"/>
              <a:t> </a:t>
            </a:r>
            <a:r>
              <a:rPr lang="ko-KR" altLang="en-US" dirty="0"/>
              <a:t>시연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46E016-2B76-0BF3-B0D8-38572F63F825}"/>
              </a:ext>
            </a:extLst>
          </p:cNvPr>
          <p:cNvSpPr txBox="1"/>
          <p:nvPr/>
        </p:nvSpPr>
        <p:spPr>
          <a:xfrm>
            <a:off x="315935" y="661873"/>
            <a:ext cx="92741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9-4. AI 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피드백 반영한 수정된 모범답변 받기 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(10</a:t>
            </a:r>
            <a:r>
              <a:rPr lang="ko-KR" altLang="en-US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초</a:t>
            </a:r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1500" dirty="0"/>
          </a:p>
          <a:p>
            <a:r>
              <a:rPr lang="en-US" altLang="ko-KR" sz="1500" b="1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ko-KR" altLang="en-US" sz="15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8139A9-2DFA-72C9-CFB0-E2F4F43F6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207" y="2614952"/>
            <a:ext cx="4313855" cy="19031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9D685B-B07E-04AC-61BB-50B910015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83" y="1069933"/>
            <a:ext cx="4852963" cy="52204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59BD71-6465-719B-891C-3AB1B5C3FD7E}"/>
              </a:ext>
            </a:extLst>
          </p:cNvPr>
          <p:cNvSpPr txBox="1"/>
          <p:nvPr/>
        </p:nvSpPr>
        <p:spPr>
          <a:xfrm>
            <a:off x="5111108" y="1555047"/>
            <a:ext cx="479489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04. GPT</a:t>
            </a:r>
            <a:r>
              <a:rPr kumimoji="1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가 피드백을 반영한 수정된 모범 답변을 제시</a:t>
            </a:r>
            <a:endParaRPr kumimoji="1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- 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회원님이 입력한 답변에 대한 피드백을 반영하여  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   </a:t>
            </a:r>
            <a:r>
              <a:rPr kumimoji="1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한컴 고딕" panose="02000500000000000000" pitchFamily="2" charset="-127"/>
                <a:ea typeface="한컴 고딕" panose="02000500000000000000" pitchFamily="2" charset="-127"/>
                <a:cs typeface="+mn-cs"/>
              </a:rPr>
              <a:t>수정된 모범 답변을 </a:t>
            </a:r>
            <a:r>
              <a:rPr kumimoji="1"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답변 </a:t>
            </a:r>
            <a:r>
              <a:rPr kumimoji="1" lang="ko-KR" altLang="en-US" sz="1500" dirty="0" err="1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작성란에</a:t>
            </a:r>
            <a:r>
              <a:rPr kumimoji="1" lang="ko-KR" altLang="en-US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자동 입력해드립니다</a:t>
            </a:r>
            <a:r>
              <a:rPr kumimoji="1" lang="en-US" altLang="ko-KR" sz="1500" dirty="0">
                <a:solidFill>
                  <a:prstClr val="black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kumimoji="1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한컴 고딕" panose="02000500000000000000" pitchFamily="2" charset="-127"/>
              <a:ea typeface="한컴 고딕" panose="02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22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13181</TotalTime>
  <Words>1100</Words>
  <Application>Microsoft Office PowerPoint</Application>
  <PresentationFormat>A4 용지(210x297mm)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한컴 고딕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차민희</cp:lastModifiedBy>
  <cp:revision>133</cp:revision>
  <dcterms:created xsi:type="dcterms:W3CDTF">2025-10-08T14:40:45Z</dcterms:created>
  <dcterms:modified xsi:type="dcterms:W3CDTF">2025-10-22T14:33:00Z</dcterms:modified>
</cp:coreProperties>
</file>